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
      <p:font typeface="Gill Sans"/>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7" roundtripDataSignature="AMtx7mg7/zwypxPMFin/+8BceigmxK29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22B3A4-27FF-45BC-8B41-2AFEDED89D49}">
  <a:tblStyle styleId="{7A22B3A4-27FF-45BC-8B41-2AFEDED89D4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GillSans-bold.fntdata"/><Relationship Id="rId25" Type="http://schemas.openxmlformats.org/officeDocument/2006/relationships/font" Target="fonts/GillSans-regular.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ontserrat-regular.fntdata"/><Relationship Id="rId16" Type="http://schemas.openxmlformats.org/officeDocument/2006/relationships/slide" Target="slides/slide10.xml"/><Relationship Id="rId19" Type="http://schemas.openxmlformats.org/officeDocument/2006/relationships/font" Target="fonts/Montserrat-italic.fntdata"/><Relationship Id="rId1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Cobie</a:t>
            </a:r>
            <a:endParaRPr/>
          </a:p>
        </p:txBody>
      </p:sp>
      <p:sp>
        <p:nvSpPr>
          <p:cNvPr id="155" name="Google Shape;15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Cobie</a:t>
            </a:r>
            <a:endParaRPr/>
          </a:p>
        </p:txBody>
      </p:sp>
      <p:sp>
        <p:nvSpPr>
          <p:cNvPr id="164" name="Google Shape;16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Cobie</a:t>
            </a:r>
            <a:endParaRPr/>
          </a:p>
        </p:txBody>
      </p:sp>
      <p:sp>
        <p:nvSpPr>
          <p:cNvPr id="171" name="Google Shape;1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Bright</a:t>
            </a:r>
            <a:endParaRPr/>
          </a:p>
        </p:txBody>
      </p:sp>
      <p:sp>
        <p:nvSpPr>
          <p:cNvPr id="178" name="Google Shape;1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b="1" lang="en-US"/>
              <a:t>Our design requirements has three functions, which:</a:t>
            </a:r>
            <a:endParaRPr b="1"/>
          </a:p>
          <a:p>
            <a:pPr indent="-317500" lvl="1" marL="914400" rtl="0" algn="l">
              <a:spcBef>
                <a:spcPts val="0"/>
              </a:spcBef>
              <a:spcAft>
                <a:spcPts val="0"/>
              </a:spcAft>
              <a:buSzPts val="1400"/>
              <a:buChar char="○"/>
            </a:pPr>
            <a:r>
              <a:rPr lang="en-US"/>
              <a:t>talk about the three functions</a:t>
            </a:r>
            <a:endParaRPr/>
          </a:p>
          <a:p>
            <a:pPr indent="-317500" lvl="0" marL="457200" rtl="0" algn="l">
              <a:spcBef>
                <a:spcPts val="0"/>
              </a:spcBef>
              <a:spcAft>
                <a:spcPts val="0"/>
              </a:spcAft>
              <a:buSzPts val="1400"/>
              <a:buChar char="●"/>
            </a:pPr>
            <a:r>
              <a:rPr b="1" lang="en-US"/>
              <a:t>The objectives for the design requirements are to:</a:t>
            </a:r>
            <a:endParaRPr b="1"/>
          </a:p>
          <a:p>
            <a:pPr indent="-317500" lvl="1" marL="914400" rtl="0" algn="l">
              <a:spcBef>
                <a:spcPts val="0"/>
              </a:spcBef>
              <a:spcAft>
                <a:spcPts val="0"/>
              </a:spcAft>
              <a:buSzPts val="1400"/>
              <a:buChar char="○"/>
            </a:pPr>
            <a:r>
              <a:rPr lang="en-US"/>
              <a:t>talk about the 4 objectives</a:t>
            </a:r>
            <a:endParaRPr/>
          </a:p>
          <a:p>
            <a:pPr indent="-317500" lvl="0" marL="457200" rtl="0" algn="l">
              <a:spcBef>
                <a:spcPts val="0"/>
              </a:spcBef>
              <a:spcAft>
                <a:spcPts val="0"/>
              </a:spcAft>
              <a:buSzPts val="1400"/>
              <a:buChar char="●"/>
            </a:pPr>
            <a:r>
              <a:rPr b="1" lang="en-US"/>
              <a:t>The constraints that we had were that:</a:t>
            </a:r>
            <a:endParaRPr b="1"/>
          </a:p>
          <a:p>
            <a:pPr indent="-317500" lvl="1" marL="914400" rtl="0" algn="l">
              <a:spcBef>
                <a:spcPts val="0"/>
              </a:spcBef>
              <a:spcAft>
                <a:spcPts val="0"/>
              </a:spcAft>
              <a:buSzPts val="1400"/>
              <a:buChar char="○"/>
            </a:pPr>
            <a:r>
              <a:rPr lang="en-US"/>
              <a:t>talk about the 4 constraints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5" name="Google Shape;1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Solution 1: Bright</a:t>
            </a:r>
            <a:br>
              <a:rPr b="1" lang="en-US" sz="1100">
                <a:latin typeface="Arial"/>
                <a:ea typeface="Arial"/>
                <a:cs typeface="Arial"/>
                <a:sym typeface="Arial"/>
              </a:rPr>
            </a:br>
            <a:r>
              <a:rPr lang="en-US" sz="1100">
                <a:latin typeface="Arial"/>
                <a:ea typeface="Arial"/>
                <a:cs typeface="Arial"/>
                <a:sym typeface="Arial"/>
              </a:rPr>
              <a:t>Solution 1 used a dashboard-centered design with classes such as Sensor, Operator, and Alert. However, the alert logic was tightly coupled with the dashboard, which resulted in poor separation between components. This made it difficult to apply testing techniques like boundary value analysis, decision tables, and state transition testing. Due to low modularity and limited testability, this solution was not selected.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Solution 2: Bright</a:t>
            </a:r>
            <a:br>
              <a:rPr b="1" lang="en-US" sz="1100">
                <a:latin typeface="Arial"/>
                <a:ea typeface="Arial"/>
                <a:cs typeface="Arial"/>
                <a:sym typeface="Arial"/>
              </a:rPr>
            </a:br>
            <a:r>
              <a:rPr lang="en-US" sz="1100">
                <a:latin typeface="Arial"/>
                <a:ea typeface="Arial"/>
                <a:cs typeface="Arial"/>
                <a:sym typeface="Arial"/>
              </a:rPr>
              <a:t>Solution 2 introduced separate sensor modules and identified testing methods such as boundary value analysis, equivalence class testing, decision tables, and state transition testing. Although this improved testing support, the architecture was still not fully modular. The components could not be tested independently, which reduced overall testability. Therefore, this solution was also not selected.</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Final Solution: Kamran</a:t>
            </a:r>
            <a:br>
              <a:rPr b="1" lang="en-US" sz="1100">
                <a:latin typeface="Arial"/>
                <a:ea typeface="Arial"/>
                <a:cs typeface="Arial"/>
                <a:sym typeface="Arial"/>
              </a:rPr>
            </a:br>
            <a:r>
              <a:rPr lang="en-US" sz="1100">
                <a:latin typeface="Arial"/>
                <a:ea typeface="Arial"/>
                <a:cs typeface="Arial"/>
                <a:sym typeface="Arial"/>
              </a:rPr>
              <a:t>The final solution uses a modular PAS design consisting of sensor modules, a data processing unit, and alert components. This structure provides clear separation between system parts and allows each module to be tested independently. The design supports multiple testing techniques and improves overall testability. For these reasons, this solution was selected.</a:t>
            </a:r>
            <a:endParaRPr b="1">
              <a:latin typeface="Times New Roman"/>
              <a:ea typeface="Times New Roman"/>
              <a:cs typeface="Times New Roman"/>
              <a:sym typeface="Times New Roman"/>
            </a:endParaRPr>
          </a:p>
        </p:txBody>
      </p:sp>
      <p:sp>
        <p:nvSpPr>
          <p:cNvPr id="192" name="Google Shape;1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Cobie</a:t>
            </a:r>
            <a:endParaRPr/>
          </a:p>
        </p:txBody>
      </p:sp>
      <p:sp>
        <p:nvSpPr>
          <p:cNvPr id="199" name="Google Shape;19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Cobie</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Conclusion: kamran</a:t>
            </a:r>
            <a:endParaRPr/>
          </a:p>
          <a:p>
            <a:pPr indent="0" lvl="0" marL="0" rtl="0" algn="l">
              <a:spcBef>
                <a:spcPts val="0"/>
              </a:spcBef>
              <a:spcAft>
                <a:spcPts val="0"/>
              </a:spcAft>
              <a:buNone/>
            </a:pPr>
            <a:r>
              <a:rPr lang="en-US"/>
              <a:t>Future work: bright</a:t>
            </a:r>
            <a:endParaRPr/>
          </a:p>
        </p:txBody>
      </p:sp>
      <p:sp>
        <p:nvSpPr>
          <p:cNvPr id="213" name="Google Shape;21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56fc1cb8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56fc1cb8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d56fc1cb8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535a6d835_5_365"/>
          <p:cNvSpPr/>
          <p:nvPr/>
        </p:nvSpPr>
        <p:spPr>
          <a:xfrm rot="5400000">
            <a:off x="10000500" y="673"/>
            <a:ext cx="2191500" cy="2191500"/>
          </a:xfrm>
          <a:prstGeom prst="diagStripe">
            <a:avLst>
              <a:gd fmla="val 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5" name="Google Shape;15;g3d535a6d835_5_365"/>
          <p:cNvGrpSpPr/>
          <p:nvPr/>
        </p:nvGrpSpPr>
        <p:grpSpPr>
          <a:xfrm>
            <a:off x="0" y="654"/>
            <a:ext cx="6871435" cy="6845694"/>
            <a:chOff x="0" y="75"/>
            <a:chExt cx="5153705" cy="5152950"/>
          </a:xfrm>
        </p:grpSpPr>
        <p:sp>
          <p:nvSpPr>
            <p:cNvPr id="16" name="Google Shape;16;g3d535a6d835_5_365"/>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g3d535a6d835_5_365"/>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 name="Google Shape;18;g3d535a6d835_5_365"/>
            <p:cNvSpPr/>
            <p:nvPr/>
          </p:nvSpPr>
          <p:spPr>
            <a:xfrm rot="-5400000">
              <a:off x="1646" y="-75"/>
              <a:ext cx="2299800" cy="23001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 name="Google Shape;19;g3d535a6d835_5_365"/>
            <p:cNvSpPr/>
            <p:nvPr/>
          </p:nvSpPr>
          <p:spPr>
            <a:xfrm flipH="1">
              <a:off x="652821" y="590035"/>
              <a:ext cx="2300100" cy="2299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 name="Google Shape;20;g3d535a6d835_5_365"/>
          <p:cNvSpPr txBox="1"/>
          <p:nvPr>
            <p:ph type="ctrTitle"/>
          </p:nvPr>
        </p:nvSpPr>
        <p:spPr>
          <a:xfrm>
            <a:off x="4716200" y="2104533"/>
            <a:ext cx="6690000" cy="2105100"/>
          </a:xfrm>
          <a:prstGeom prst="rect">
            <a:avLst/>
          </a:prstGeom>
        </p:spPr>
        <p:txBody>
          <a:bodyPr anchorCtr="0" anchor="t" bIns="121900" lIns="121900" spcFirstLastPara="1" rIns="121900" wrap="square" tIns="1219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21" name="Google Shape;21;g3d535a6d835_5_365"/>
          <p:cNvSpPr txBox="1"/>
          <p:nvPr>
            <p:ph idx="1" type="subTitle"/>
          </p:nvPr>
        </p:nvSpPr>
        <p:spPr>
          <a:xfrm>
            <a:off x="6778600" y="5233233"/>
            <a:ext cx="4627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22" name="Google Shape;22;g3d535a6d835_5_36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grpSp>
        <p:nvGrpSpPr>
          <p:cNvPr id="24" name="Google Shape;24;g3d535a6d835_5_375"/>
          <p:cNvGrpSpPr/>
          <p:nvPr/>
        </p:nvGrpSpPr>
        <p:grpSpPr>
          <a:xfrm>
            <a:off x="5875053" y="0"/>
            <a:ext cx="6316642" cy="6857248"/>
            <a:chOff x="4406400" y="0"/>
            <a:chExt cx="4737600" cy="5143065"/>
          </a:xfrm>
        </p:grpSpPr>
        <p:sp>
          <p:nvSpPr>
            <p:cNvPr id="25" name="Google Shape;25;g3d535a6d835_5_37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3d535a6d835_5_37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3d535a6d835_5_37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d535a6d835_5_37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3d535a6d835_5_37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g3d535a6d835_5_37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3d535a6d835_5_37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d535a6d835_5_375"/>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g3d535a6d835_5_37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d535a6d835_5_37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d535a6d835_5_37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g3d535a6d835_5_37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d535a6d835_5_37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d535a6d835_5_37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g3d535a6d835_5_37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 name="Google Shape;40;g3d535a6d835_5_37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d535a6d835_5_37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d535a6d835_5_37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3" name="Google Shape;43;g3d535a6d835_5_375"/>
          <p:cNvSpPr txBox="1"/>
          <p:nvPr>
            <p:ph type="title"/>
          </p:nvPr>
        </p:nvSpPr>
        <p:spPr>
          <a:xfrm>
            <a:off x="1098467" y="2737333"/>
            <a:ext cx="6116100" cy="15315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4" name="Google Shape;44;g3d535a6d835_5_3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g3d535a6d835_5_397"/>
          <p:cNvGrpSpPr/>
          <p:nvPr/>
        </p:nvGrpSpPr>
        <p:grpSpPr>
          <a:xfrm>
            <a:off x="0" y="507989"/>
            <a:ext cx="1383765" cy="1355016"/>
            <a:chOff x="0" y="381001"/>
            <a:chExt cx="1037850" cy="1016287"/>
          </a:xfrm>
        </p:grpSpPr>
        <p:sp>
          <p:nvSpPr>
            <p:cNvPr id="47" name="Google Shape;47;g3d535a6d835_5_39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g3d535a6d835_5_39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9" name="Google Shape;49;g3d535a6d835_5_397"/>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0" name="Google Shape;50;g3d535a6d835_5_397"/>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1" name="Google Shape;51;g3d535a6d835_5_39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grpSp>
        <p:nvGrpSpPr>
          <p:cNvPr id="53" name="Google Shape;53;g3d535a6d835_5_404"/>
          <p:cNvGrpSpPr/>
          <p:nvPr/>
        </p:nvGrpSpPr>
        <p:grpSpPr>
          <a:xfrm>
            <a:off x="0" y="507989"/>
            <a:ext cx="1383765" cy="1355016"/>
            <a:chOff x="0" y="381001"/>
            <a:chExt cx="1037850" cy="1016287"/>
          </a:xfrm>
        </p:grpSpPr>
        <p:sp>
          <p:nvSpPr>
            <p:cNvPr id="54" name="Google Shape;54;g3d535a6d835_5_404"/>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 name="Google Shape;55;g3d535a6d835_5_404"/>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6" name="Google Shape;56;g3d535a6d835_5_404"/>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7" name="Google Shape;57;g3d535a6d835_5_404"/>
          <p:cNvSpPr txBox="1"/>
          <p:nvPr>
            <p:ph idx="1" type="body"/>
          </p:nvPr>
        </p:nvSpPr>
        <p:spPr>
          <a:xfrm>
            <a:off x="1730000"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8" name="Google Shape;58;g3d535a6d835_5_404"/>
          <p:cNvSpPr txBox="1"/>
          <p:nvPr>
            <p:ph idx="2" type="body"/>
          </p:nvPr>
        </p:nvSpPr>
        <p:spPr>
          <a:xfrm>
            <a:off x="6577628"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9" name="Google Shape;59;g3d535a6d835_5_40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grpSp>
        <p:nvGrpSpPr>
          <p:cNvPr id="61" name="Google Shape;61;g3d535a6d835_5_412"/>
          <p:cNvGrpSpPr/>
          <p:nvPr/>
        </p:nvGrpSpPr>
        <p:grpSpPr>
          <a:xfrm>
            <a:off x="0" y="507989"/>
            <a:ext cx="1383765" cy="1355016"/>
            <a:chOff x="0" y="381001"/>
            <a:chExt cx="1037850" cy="1016287"/>
          </a:xfrm>
        </p:grpSpPr>
        <p:sp>
          <p:nvSpPr>
            <p:cNvPr id="62" name="Google Shape;62;g3d535a6d835_5_412"/>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 name="Google Shape;63;g3d535a6d835_5_412"/>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4" name="Google Shape;64;g3d535a6d835_5_412"/>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5" name="Google Shape;65;g3d535a6d835_5_4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g3d535a6d835_5_418"/>
          <p:cNvGrpSpPr/>
          <p:nvPr/>
        </p:nvGrpSpPr>
        <p:grpSpPr>
          <a:xfrm>
            <a:off x="0" y="507989"/>
            <a:ext cx="1383765" cy="1355016"/>
            <a:chOff x="0" y="381001"/>
            <a:chExt cx="1037850" cy="1016287"/>
          </a:xfrm>
        </p:grpSpPr>
        <p:sp>
          <p:nvSpPr>
            <p:cNvPr id="68" name="Google Shape;68;g3d535a6d835_5_418"/>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 name="Google Shape;69;g3d535a6d835_5_418"/>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70" name="Google Shape;70;g3d535a6d835_5_418"/>
          <p:cNvSpPr txBox="1"/>
          <p:nvPr>
            <p:ph type="title"/>
          </p:nvPr>
        </p:nvSpPr>
        <p:spPr>
          <a:xfrm>
            <a:off x="1730000" y="525000"/>
            <a:ext cx="5065200" cy="19908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71" name="Google Shape;71;g3d535a6d835_5_418"/>
          <p:cNvSpPr txBox="1"/>
          <p:nvPr>
            <p:ph idx="1" type="body"/>
          </p:nvPr>
        </p:nvSpPr>
        <p:spPr>
          <a:xfrm>
            <a:off x="1730000" y="2630067"/>
            <a:ext cx="5065200" cy="3221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72" name="Google Shape;72;g3d535a6d835_5_41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g3d535a6d835_5_425"/>
          <p:cNvGrpSpPr/>
          <p:nvPr/>
        </p:nvGrpSpPr>
        <p:grpSpPr>
          <a:xfrm>
            <a:off x="5875053" y="0"/>
            <a:ext cx="6316642" cy="6857829"/>
            <a:chOff x="4406400" y="0"/>
            <a:chExt cx="4737600" cy="5143500"/>
          </a:xfrm>
        </p:grpSpPr>
        <p:sp>
          <p:nvSpPr>
            <p:cNvPr id="75" name="Google Shape;75;g3d535a6d835_5_425"/>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g3d535a6d835_5_425"/>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3d535a6d835_5_425"/>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3d535a6d835_5_425"/>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3d535a6d835_5_425"/>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g3d535a6d835_5_425"/>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g3d535a6d835_5_425"/>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g3d535a6d835_5_425"/>
            <p:cNvSpPr/>
            <p:nvPr/>
          </p:nvSpPr>
          <p:spPr>
            <a:xfrm flipH="1">
              <a:off x="6908099" y="2069680"/>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g3d535a6d835_5_425"/>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3d535a6d835_5_425"/>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g3d535a6d835_5_425"/>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 name="Google Shape;86;g3d535a6d835_5_425"/>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3d535a6d835_5_425"/>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g3d535a6d835_5_425"/>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 name="Google Shape;89;g3d535a6d835_5_425"/>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 name="Google Shape;90;g3d535a6d835_5_425"/>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g3d535a6d835_5_425"/>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g3d535a6d835_5_425"/>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3" name="Google Shape;93;g3d535a6d835_5_425"/>
          <p:cNvSpPr txBox="1"/>
          <p:nvPr>
            <p:ph type="title"/>
          </p:nvPr>
        </p:nvSpPr>
        <p:spPr>
          <a:xfrm>
            <a:off x="1098467" y="1155700"/>
            <a:ext cx="6116100" cy="46947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4" name="Google Shape;94;g3d535a6d835_5_4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grpSp>
        <p:nvGrpSpPr>
          <p:cNvPr id="96" name="Google Shape;96;g3d535a6d835_5_447"/>
          <p:cNvGrpSpPr/>
          <p:nvPr/>
        </p:nvGrpSpPr>
        <p:grpSpPr>
          <a:xfrm>
            <a:off x="0" y="507989"/>
            <a:ext cx="1383765" cy="1355016"/>
            <a:chOff x="0" y="381001"/>
            <a:chExt cx="1037850" cy="1016287"/>
          </a:xfrm>
        </p:grpSpPr>
        <p:sp>
          <p:nvSpPr>
            <p:cNvPr id="97" name="Google Shape;97;g3d535a6d835_5_44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g3d535a6d835_5_44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9" name="Google Shape;99;g3d535a6d835_5_447"/>
          <p:cNvSpPr txBox="1"/>
          <p:nvPr>
            <p:ph type="title"/>
          </p:nvPr>
        </p:nvSpPr>
        <p:spPr>
          <a:xfrm>
            <a:off x="1730000" y="2211100"/>
            <a:ext cx="4048500" cy="23355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00" name="Google Shape;100;g3d535a6d835_5_447"/>
          <p:cNvSpPr txBox="1"/>
          <p:nvPr>
            <p:ph idx="1" type="subTitle"/>
          </p:nvPr>
        </p:nvSpPr>
        <p:spPr>
          <a:xfrm>
            <a:off x="1730000" y="4717333"/>
            <a:ext cx="4048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101" name="Google Shape;101;g3d535a6d835_5_447"/>
          <p:cNvSpPr txBox="1"/>
          <p:nvPr>
            <p:ph idx="2" type="body"/>
          </p:nvPr>
        </p:nvSpPr>
        <p:spPr>
          <a:xfrm>
            <a:off x="6197600" y="2262133"/>
            <a:ext cx="4902300" cy="3129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2" name="Google Shape;102;g3d535a6d835_5_44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grpSp>
        <p:nvGrpSpPr>
          <p:cNvPr id="104" name="Google Shape;104;g3d535a6d835_5_455"/>
          <p:cNvGrpSpPr/>
          <p:nvPr/>
        </p:nvGrpSpPr>
        <p:grpSpPr>
          <a:xfrm>
            <a:off x="0" y="5504636"/>
            <a:ext cx="931877" cy="912853"/>
            <a:chOff x="0" y="3785672"/>
            <a:chExt cx="698925" cy="684657"/>
          </a:xfrm>
        </p:grpSpPr>
        <p:sp>
          <p:nvSpPr>
            <p:cNvPr id="105" name="Google Shape;105;g3d535a6d835_5_455"/>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d535a6d835_5_455"/>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7" name="Google Shape;107;g3d535a6d835_5_455"/>
          <p:cNvSpPr txBox="1"/>
          <p:nvPr>
            <p:ph idx="1" type="body"/>
          </p:nvPr>
        </p:nvSpPr>
        <p:spPr>
          <a:xfrm>
            <a:off x="1083633" y="5740500"/>
            <a:ext cx="9248100" cy="6984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08" name="Google Shape;108;g3d535a6d835_5_4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g3d535a6d835_5_461"/>
          <p:cNvGrpSpPr/>
          <p:nvPr/>
        </p:nvGrpSpPr>
        <p:grpSpPr>
          <a:xfrm>
            <a:off x="5875053" y="0"/>
            <a:ext cx="6316642" cy="6857248"/>
            <a:chOff x="4406400" y="0"/>
            <a:chExt cx="4737600" cy="5143065"/>
          </a:xfrm>
        </p:grpSpPr>
        <p:sp>
          <p:nvSpPr>
            <p:cNvPr id="111" name="Google Shape;111;g3d535a6d835_5_46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d535a6d835_5_46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g3d535a6d835_5_46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g3d535a6d835_5_46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 name="Google Shape;115;g3d535a6d835_5_46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3d535a6d835_5_46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g3d535a6d835_5_46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g3d535a6d835_5_461"/>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g3d535a6d835_5_46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g3d535a6d835_5_46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g3d535a6d835_5_46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 name="Google Shape;122;g3d535a6d835_5_46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 name="Google Shape;123;g3d535a6d835_5_46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3d535a6d835_5_46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 name="Google Shape;125;g3d535a6d835_5_46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 name="Google Shape;126;g3d535a6d835_5_46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 name="Google Shape;127;g3d535a6d835_5_46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 name="Google Shape;128;g3d535a6d835_5_46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9" name="Google Shape;129;g3d535a6d835_5_461"/>
          <p:cNvSpPr txBox="1"/>
          <p:nvPr>
            <p:ph hasCustomPrompt="1" type="title"/>
          </p:nvPr>
        </p:nvSpPr>
        <p:spPr>
          <a:xfrm>
            <a:off x="1098467" y="1712900"/>
            <a:ext cx="6368100" cy="1734300"/>
          </a:xfrm>
          <a:prstGeom prst="rect">
            <a:avLst/>
          </a:prstGeom>
        </p:spPr>
        <p:txBody>
          <a:bodyPr anchorCtr="0" anchor="t" bIns="121900" lIns="121900" spcFirstLastPara="1" rIns="121900" wrap="square" tIns="121900">
            <a:normAutofit/>
          </a:bodyPr>
          <a:lstStyle>
            <a:lvl1pPr lvl="0">
              <a:spcBef>
                <a:spcPts val="0"/>
              </a:spcBef>
              <a:spcAft>
                <a:spcPts val="0"/>
              </a:spcAft>
              <a:buSzPts val="10700"/>
              <a:buNone/>
              <a:defRPr sz="10700"/>
            </a:lvl1pPr>
            <a:lvl2pPr lvl="1">
              <a:spcBef>
                <a:spcPts val="0"/>
              </a:spcBef>
              <a:spcAft>
                <a:spcPts val="0"/>
              </a:spcAft>
              <a:buSzPts val="10700"/>
              <a:buNone/>
              <a:defRPr sz="10700"/>
            </a:lvl2pPr>
            <a:lvl3pPr lvl="2">
              <a:spcBef>
                <a:spcPts val="0"/>
              </a:spcBef>
              <a:spcAft>
                <a:spcPts val="0"/>
              </a:spcAft>
              <a:buSzPts val="10700"/>
              <a:buNone/>
              <a:defRPr sz="10700"/>
            </a:lvl3pPr>
            <a:lvl4pPr lvl="3">
              <a:spcBef>
                <a:spcPts val="0"/>
              </a:spcBef>
              <a:spcAft>
                <a:spcPts val="0"/>
              </a:spcAft>
              <a:buSzPts val="10700"/>
              <a:buNone/>
              <a:defRPr sz="10700"/>
            </a:lvl4pPr>
            <a:lvl5pPr lvl="4">
              <a:spcBef>
                <a:spcPts val="0"/>
              </a:spcBef>
              <a:spcAft>
                <a:spcPts val="0"/>
              </a:spcAft>
              <a:buSzPts val="10700"/>
              <a:buNone/>
              <a:defRPr sz="10700"/>
            </a:lvl5pPr>
            <a:lvl6pPr lvl="5">
              <a:spcBef>
                <a:spcPts val="0"/>
              </a:spcBef>
              <a:spcAft>
                <a:spcPts val="0"/>
              </a:spcAft>
              <a:buSzPts val="10700"/>
              <a:buNone/>
              <a:defRPr sz="10700"/>
            </a:lvl6pPr>
            <a:lvl7pPr lvl="6">
              <a:spcBef>
                <a:spcPts val="0"/>
              </a:spcBef>
              <a:spcAft>
                <a:spcPts val="0"/>
              </a:spcAft>
              <a:buSzPts val="10700"/>
              <a:buNone/>
              <a:defRPr sz="10700"/>
            </a:lvl7pPr>
            <a:lvl8pPr lvl="7">
              <a:spcBef>
                <a:spcPts val="0"/>
              </a:spcBef>
              <a:spcAft>
                <a:spcPts val="0"/>
              </a:spcAft>
              <a:buSzPts val="10700"/>
              <a:buNone/>
              <a:defRPr sz="10700"/>
            </a:lvl8pPr>
            <a:lvl9pPr lvl="8">
              <a:spcBef>
                <a:spcPts val="0"/>
              </a:spcBef>
              <a:spcAft>
                <a:spcPts val="0"/>
              </a:spcAft>
              <a:buSzPts val="10700"/>
              <a:buNone/>
              <a:defRPr sz="10700"/>
            </a:lvl9pPr>
          </a:lstStyle>
          <a:p>
            <a:r>
              <a:t>xx%</a:t>
            </a:r>
          </a:p>
        </p:txBody>
      </p:sp>
      <p:sp>
        <p:nvSpPr>
          <p:cNvPr id="130" name="Google Shape;130;g3d535a6d835_5_461"/>
          <p:cNvSpPr txBox="1"/>
          <p:nvPr>
            <p:ph idx="1" type="body"/>
          </p:nvPr>
        </p:nvSpPr>
        <p:spPr>
          <a:xfrm>
            <a:off x="1098467" y="3524166"/>
            <a:ext cx="6368100" cy="1625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31" name="Google Shape;131;g3d535a6d835_5_46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g3d535a6d835_5_4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005937"/>
        </a:solidFill>
      </p:bgPr>
    </p:bg>
    <p:spTree>
      <p:nvGrpSpPr>
        <p:cNvPr id="134" name="Shape 134"/>
        <p:cNvGrpSpPr/>
        <p:nvPr/>
      </p:nvGrpSpPr>
      <p:grpSpPr>
        <a:xfrm>
          <a:off x="0" y="0"/>
          <a:ext cx="0" cy="0"/>
          <a:chOff x="0" y="0"/>
          <a:chExt cx="0" cy="0"/>
        </a:xfrm>
      </p:grpSpPr>
      <p:pic>
        <p:nvPicPr>
          <p:cNvPr descr="A picture containing text, swimming, ocean floor&#10;&#10;Description automatically generated" id="135" name="Google Shape;135;g3d535a6d835_5_486"/>
          <p:cNvPicPr preferRelativeResize="0"/>
          <p:nvPr/>
        </p:nvPicPr>
        <p:blipFill rotWithShape="1">
          <a:blip r:embed="rId2">
            <a:alphaModFix/>
          </a:blip>
          <a:srcRect b="0" l="0" r="0" t="0"/>
          <a:stretch/>
        </p:blipFill>
        <p:spPr>
          <a:xfrm>
            <a:off x="0" y="0"/>
            <a:ext cx="12192003" cy="6858001"/>
          </a:xfrm>
          <a:prstGeom prst="rect">
            <a:avLst/>
          </a:prstGeom>
          <a:noFill/>
          <a:ln>
            <a:noFill/>
          </a:ln>
        </p:spPr>
      </p:pic>
      <p:sp>
        <p:nvSpPr>
          <p:cNvPr id="136" name="Google Shape;136;g3d535a6d835_5_486"/>
          <p:cNvSpPr txBox="1"/>
          <p:nvPr>
            <p:ph type="ctrTitle"/>
          </p:nvPr>
        </p:nvSpPr>
        <p:spPr>
          <a:xfrm>
            <a:off x="838200" y="772319"/>
            <a:ext cx="10734000" cy="16557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rgbClr val="FFC629"/>
              </a:buClr>
              <a:buSzPts val="6000"/>
              <a:buFont typeface="Arial"/>
              <a:buNone/>
              <a:defRPr b="0" i="0" sz="6000" u="none" cap="none" strike="noStrike">
                <a:solidFill>
                  <a:srgbClr val="FFC629"/>
                </a:solidFill>
                <a:latin typeface="Arial"/>
                <a:ea typeface="Arial"/>
                <a:cs typeface="Arial"/>
                <a:sym typeface="Arial"/>
              </a:defRPr>
            </a:lvl1pPr>
            <a:lvl2pPr lvl="1">
              <a:spcBef>
                <a:spcPts val="0"/>
              </a:spcBef>
              <a:spcAft>
                <a:spcPts val="0"/>
              </a:spcAft>
              <a:buSzPts val="3700"/>
              <a:buNone/>
              <a:defRPr sz="1800"/>
            </a:lvl2pPr>
            <a:lvl3pPr lvl="2">
              <a:spcBef>
                <a:spcPts val="0"/>
              </a:spcBef>
              <a:spcAft>
                <a:spcPts val="0"/>
              </a:spcAft>
              <a:buSzPts val="3700"/>
              <a:buNone/>
              <a:defRPr sz="1800"/>
            </a:lvl3pPr>
            <a:lvl4pPr lvl="3">
              <a:spcBef>
                <a:spcPts val="0"/>
              </a:spcBef>
              <a:spcAft>
                <a:spcPts val="0"/>
              </a:spcAft>
              <a:buSzPts val="3700"/>
              <a:buNone/>
              <a:defRPr sz="1800"/>
            </a:lvl4pPr>
            <a:lvl5pPr lvl="4">
              <a:spcBef>
                <a:spcPts val="0"/>
              </a:spcBef>
              <a:spcAft>
                <a:spcPts val="0"/>
              </a:spcAft>
              <a:buSzPts val="3700"/>
              <a:buNone/>
              <a:defRPr sz="1800"/>
            </a:lvl5pPr>
            <a:lvl6pPr lvl="5">
              <a:spcBef>
                <a:spcPts val="0"/>
              </a:spcBef>
              <a:spcAft>
                <a:spcPts val="0"/>
              </a:spcAft>
              <a:buSzPts val="3700"/>
              <a:buNone/>
              <a:defRPr sz="1800"/>
            </a:lvl6pPr>
            <a:lvl7pPr lvl="6">
              <a:spcBef>
                <a:spcPts val="0"/>
              </a:spcBef>
              <a:spcAft>
                <a:spcPts val="0"/>
              </a:spcAft>
              <a:buSzPts val="3700"/>
              <a:buNone/>
              <a:defRPr sz="1800"/>
            </a:lvl7pPr>
            <a:lvl8pPr lvl="7">
              <a:spcBef>
                <a:spcPts val="0"/>
              </a:spcBef>
              <a:spcAft>
                <a:spcPts val="0"/>
              </a:spcAft>
              <a:buSzPts val="3700"/>
              <a:buNone/>
              <a:defRPr sz="1800"/>
            </a:lvl8pPr>
            <a:lvl9pPr lvl="8">
              <a:spcBef>
                <a:spcPts val="0"/>
              </a:spcBef>
              <a:spcAft>
                <a:spcPts val="0"/>
              </a:spcAft>
              <a:buSzPts val="3700"/>
              <a:buNone/>
              <a:defRPr sz="1800"/>
            </a:lvl9pPr>
          </a:lstStyle>
          <a:p/>
        </p:txBody>
      </p:sp>
      <p:sp>
        <p:nvSpPr>
          <p:cNvPr id="137" name="Google Shape;137;g3d535a6d835_5_486"/>
          <p:cNvSpPr txBox="1"/>
          <p:nvPr>
            <p:ph idx="1" type="subTitle"/>
          </p:nvPr>
        </p:nvSpPr>
        <p:spPr>
          <a:xfrm>
            <a:off x="838200" y="2601119"/>
            <a:ext cx="10734000" cy="9855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lvl="1" marR="0" algn="ctr">
              <a:lnSpc>
                <a:spcPct val="90000"/>
              </a:lnSpc>
              <a:spcBef>
                <a:spcPts val="16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16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1600"/>
              </a:spcBef>
              <a:spcAft>
                <a:spcPts val="160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38" name="Google Shape;138;g3d535a6d835_5_486"/>
          <p:cNvSpPr/>
          <p:nvPr/>
        </p:nvSpPr>
        <p:spPr>
          <a:xfrm>
            <a:off x="0" y="5618480"/>
            <a:ext cx="6096000" cy="934800"/>
          </a:xfrm>
          <a:prstGeom prst="rect">
            <a:avLst/>
          </a:prstGeom>
          <a:solidFill>
            <a:srgbClr val="FFC6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g3d535a6d835_5_486"/>
          <p:cNvSpPr/>
          <p:nvPr/>
        </p:nvSpPr>
        <p:spPr>
          <a:xfrm>
            <a:off x="6096000" y="5618320"/>
            <a:ext cx="6096000" cy="93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0" name="Google Shape;140;g3d535a6d835_5_486"/>
          <p:cNvPicPr preferRelativeResize="0"/>
          <p:nvPr/>
        </p:nvPicPr>
        <p:blipFill rotWithShape="1">
          <a:blip r:embed="rId3">
            <a:alphaModFix/>
          </a:blip>
          <a:srcRect b="0" l="0" r="0" t="0"/>
          <a:stretch/>
        </p:blipFill>
        <p:spPr>
          <a:xfrm>
            <a:off x="6934200" y="5757623"/>
            <a:ext cx="3967569" cy="656115"/>
          </a:xfrm>
          <a:prstGeom prst="rect">
            <a:avLst/>
          </a:prstGeom>
          <a:noFill/>
          <a:ln>
            <a:noFill/>
          </a:ln>
        </p:spPr>
      </p:pic>
      <p:sp>
        <p:nvSpPr>
          <p:cNvPr id="141" name="Google Shape;141;g3d535a6d835_5_486"/>
          <p:cNvSpPr txBox="1"/>
          <p:nvPr>
            <p:ph idx="2" type="body"/>
          </p:nvPr>
        </p:nvSpPr>
        <p:spPr>
          <a:xfrm>
            <a:off x="843280" y="5811201"/>
            <a:ext cx="4643100" cy="5490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algn="l">
              <a:lnSpc>
                <a:spcPct val="90000"/>
              </a:lnSpc>
              <a:spcBef>
                <a:spcPts val="1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1600"/>
              </a:spcBef>
              <a:spcAft>
                <a:spcPts val="160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1"/>
        </a:solidFill>
      </p:bgPr>
    </p:bg>
    <p:spTree>
      <p:nvGrpSpPr>
        <p:cNvPr id="142" name="Shape 142"/>
        <p:cNvGrpSpPr/>
        <p:nvPr/>
      </p:nvGrpSpPr>
      <p:grpSpPr>
        <a:xfrm>
          <a:off x="0" y="0"/>
          <a:ext cx="0" cy="0"/>
          <a:chOff x="0" y="0"/>
          <a:chExt cx="0" cy="0"/>
        </a:xfrm>
      </p:grpSpPr>
      <p:sp>
        <p:nvSpPr>
          <p:cNvPr id="143" name="Google Shape;143;g3d535a6d835_5_494"/>
          <p:cNvSpPr txBox="1"/>
          <p:nvPr>
            <p:ph idx="1" type="subTitle"/>
          </p:nvPr>
        </p:nvSpPr>
        <p:spPr>
          <a:xfrm>
            <a:off x="838200" y="1839433"/>
            <a:ext cx="5816700" cy="4200600"/>
          </a:xfrm>
          <a:prstGeom prst="rect">
            <a:avLst/>
          </a:prstGeom>
          <a:noFill/>
          <a:ln>
            <a:noFill/>
          </a:ln>
        </p:spPr>
        <p:txBody>
          <a:bodyPr anchorCtr="0" anchor="t" bIns="45700" lIns="91425" spcFirstLastPara="1" rIns="91425" wrap="square" tIns="45700">
            <a:normAutofit/>
          </a:bodyPr>
          <a:lstStyle>
            <a:lvl1pPr lvl="0" marR="0" algn="l">
              <a:lnSpc>
                <a:spcPct val="100000"/>
              </a:lnSpc>
              <a:spcBef>
                <a:spcPts val="1000"/>
              </a:spcBef>
              <a:spcAft>
                <a:spcPts val="0"/>
              </a:spcAft>
              <a:buClr>
                <a:schemeClr val="dk1"/>
              </a:buClr>
              <a:buSzPts val="2200"/>
              <a:buFont typeface="Arial"/>
              <a:buNone/>
              <a:defRPr b="0" i="0" sz="2200" u="none" cap="none" strike="noStrike">
                <a:solidFill>
                  <a:schemeClr val="dk1"/>
                </a:solidFill>
                <a:latin typeface="Arial"/>
                <a:ea typeface="Arial"/>
                <a:cs typeface="Arial"/>
                <a:sym typeface="Arial"/>
              </a:defRPr>
            </a:lvl1pPr>
            <a:lvl2pPr lvl="1" marR="0" algn="ctr">
              <a:lnSpc>
                <a:spcPct val="90000"/>
              </a:lnSpc>
              <a:spcBef>
                <a:spcPts val="16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16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1600"/>
              </a:spcBef>
              <a:spcAft>
                <a:spcPts val="160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44" name="Google Shape;144;g3d535a6d835_5_494"/>
          <p:cNvSpPr/>
          <p:nvPr/>
        </p:nvSpPr>
        <p:spPr>
          <a:xfrm flipH="1" rot="10800000">
            <a:off x="0" y="6457806"/>
            <a:ext cx="9544800" cy="45600"/>
          </a:xfrm>
          <a:prstGeom prst="rect">
            <a:avLst/>
          </a:prstGeom>
          <a:solidFill>
            <a:srgbClr val="FFC6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5" name="Google Shape;145;g3d535a6d835_5_494"/>
          <p:cNvPicPr preferRelativeResize="0"/>
          <p:nvPr/>
        </p:nvPicPr>
        <p:blipFill rotWithShape="1">
          <a:blip r:embed="rId2">
            <a:alphaModFix/>
          </a:blip>
          <a:srcRect b="0" l="0" r="0" t="0"/>
          <a:stretch/>
        </p:blipFill>
        <p:spPr>
          <a:xfrm>
            <a:off x="9677400" y="6291102"/>
            <a:ext cx="2291166" cy="378889"/>
          </a:xfrm>
          <a:prstGeom prst="rect">
            <a:avLst/>
          </a:prstGeom>
          <a:noFill/>
          <a:ln>
            <a:noFill/>
          </a:ln>
        </p:spPr>
      </p:pic>
      <p:sp>
        <p:nvSpPr>
          <p:cNvPr id="146" name="Google Shape;146;g3d535a6d835_5_494"/>
          <p:cNvSpPr/>
          <p:nvPr>
            <p:ph idx="2" type="pic"/>
          </p:nvPr>
        </p:nvSpPr>
        <p:spPr>
          <a:xfrm>
            <a:off x="7254241" y="1839913"/>
            <a:ext cx="4440000" cy="4200600"/>
          </a:xfrm>
          <a:prstGeom prst="rect">
            <a:avLst/>
          </a:prstGeom>
          <a:noFill/>
          <a:ln>
            <a:noFill/>
          </a:ln>
        </p:spPr>
      </p:sp>
      <p:sp>
        <p:nvSpPr>
          <p:cNvPr id="147" name="Google Shape;147;g3d535a6d835_5_494"/>
          <p:cNvSpPr txBox="1"/>
          <p:nvPr>
            <p:ph idx="3" type="body"/>
          </p:nvPr>
        </p:nvSpPr>
        <p:spPr>
          <a:xfrm>
            <a:off x="838200" y="706810"/>
            <a:ext cx="10856100" cy="746400"/>
          </a:xfrm>
          <a:prstGeom prst="rect">
            <a:avLst/>
          </a:prstGeom>
          <a:noFill/>
          <a:ln>
            <a:noFill/>
          </a:ln>
        </p:spPr>
        <p:txBody>
          <a:bodyPr anchorCtr="0" anchor="t" bIns="45700" lIns="91425" spcFirstLastPara="1" rIns="91425" wrap="square" tIns="45700">
            <a:normAutofit/>
          </a:bodyPr>
          <a:lstStyle>
            <a:lvl1pPr indent="-228600" lvl="0" marL="457200" marR="0" algn="l">
              <a:lnSpc>
                <a:spcPct val="90000"/>
              </a:lnSpc>
              <a:spcBef>
                <a:spcPts val="1000"/>
              </a:spcBef>
              <a:spcAft>
                <a:spcPts val="0"/>
              </a:spcAft>
              <a:buClr>
                <a:srgbClr val="124734"/>
              </a:buClr>
              <a:buSzPts val="5400"/>
              <a:buFont typeface="Arial"/>
              <a:buNone/>
              <a:defRPr b="0" i="0" sz="5400" u="none" cap="none" strike="noStrike">
                <a:solidFill>
                  <a:srgbClr val="124734"/>
                </a:solidFill>
                <a:latin typeface="Arial"/>
                <a:ea typeface="Arial"/>
                <a:cs typeface="Arial"/>
                <a:sym typeface="Arial"/>
              </a:defRPr>
            </a:lvl1pPr>
            <a:lvl2pPr indent="-381000" lvl="1" marL="914400" marR="0" algn="l">
              <a:lnSpc>
                <a:spcPct val="90000"/>
              </a:lnSpc>
              <a:spcBef>
                <a:spcPts val="1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1600"/>
              </a:spcBef>
              <a:spcAft>
                <a:spcPts val="160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lt1"/>
        </a:solidFill>
      </p:bgPr>
    </p:bg>
    <p:spTree>
      <p:nvGrpSpPr>
        <p:cNvPr id="148" name="Shape 148"/>
        <p:cNvGrpSpPr/>
        <p:nvPr/>
      </p:nvGrpSpPr>
      <p:grpSpPr>
        <a:xfrm>
          <a:off x="0" y="0"/>
          <a:ext cx="0" cy="0"/>
          <a:chOff x="0" y="0"/>
          <a:chExt cx="0" cy="0"/>
        </a:xfrm>
      </p:grpSpPr>
      <p:sp>
        <p:nvSpPr>
          <p:cNvPr id="149" name="Google Shape;149;g3d535a6d835_5_500"/>
          <p:cNvSpPr txBox="1"/>
          <p:nvPr>
            <p:ph idx="1" type="subTitle"/>
          </p:nvPr>
        </p:nvSpPr>
        <p:spPr>
          <a:xfrm>
            <a:off x="838200" y="1839433"/>
            <a:ext cx="10490100" cy="4200600"/>
          </a:xfrm>
          <a:prstGeom prst="rect">
            <a:avLst/>
          </a:prstGeom>
          <a:noFill/>
          <a:ln>
            <a:noFill/>
          </a:ln>
        </p:spPr>
        <p:txBody>
          <a:bodyPr anchorCtr="0" anchor="t" bIns="45700" lIns="91425" spcFirstLastPara="1" rIns="91425" wrap="square" tIns="45700">
            <a:normAutofit/>
          </a:bodyPr>
          <a:lstStyle>
            <a:lvl1pPr lvl="0" marR="0" algn="l">
              <a:lnSpc>
                <a:spcPct val="100000"/>
              </a:lnSpc>
              <a:spcBef>
                <a:spcPts val="1000"/>
              </a:spcBef>
              <a:spcAft>
                <a:spcPts val="0"/>
              </a:spcAft>
              <a:buClr>
                <a:srgbClr val="FFC629"/>
              </a:buClr>
              <a:buSzPts val="2200"/>
              <a:buFont typeface="Arial"/>
              <a:buChar char="•"/>
              <a:defRPr b="0" i="0" sz="2200" u="none" cap="none" strike="noStrike">
                <a:solidFill>
                  <a:schemeClr val="dk1"/>
                </a:solidFill>
                <a:latin typeface="Arial"/>
                <a:ea typeface="Arial"/>
                <a:cs typeface="Arial"/>
                <a:sym typeface="Arial"/>
              </a:defRPr>
            </a:lvl1pPr>
            <a:lvl2pPr lvl="1" marR="0" algn="ctr">
              <a:lnSpc>
                <a:spcPct val="90000"/>
              </a:lnSpc>
              <a:spcBef>
                <a:spcPts val="16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16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16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1600"/>
              </a:spcBef>
              <a:spcAft>
                <a:spcPts val="160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50" name="Google Shape;150;g3d535a6d835_5_500"/>
          <p:cNvSpPr/>
          <p:nvPr/>
        </p:nvSpPr>
        <p:spPr>
          <a:xfrm flipH="1" rot="10800000">
            <a:off x="0" y="6457806"/>
            <a:ext cx="9544800" cy="45600"/>
          </a:xfrm>
          <a:prstGeom prst="rect">
            <a:avLst/>
          </a:prstGeom>
          <a:solidFill>
            <a:srgbClr val="FFC6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1" name="Google Shape;151;g3d535a6d835_5_500"/>
          <p:cNvPicPr preferRelativeResize="0"/>
          <p:nvPr/>
        </p:nvPicPr>
        <p:blipFill rotWithShape="1">
          <a:blip r:embed="rId2">
            <a:alphaModFix/>
          </a:blip>
          <a:srcRect b="0" l="0" r="0" t="0"/>
          <a:stretch/>
        </p:blipFill>
        <p:spPr>
          <a:xfrm>
            <a:off x="9677400" y="6291102"/>
            <a:ext cx="2291166" cy="378889"/>
          </a:xfrm>
          <a:prstGeom prst="rect">
            <a:avLst/>
          </a:prstGeom>
          <a:noFill/>
          <a:ln>
            <a:noFill/>
          </a:ln>
        </p:spPr>
      </p:pic>
      <p:sp>
        <p:nvSpPr>
          <p:cNvPr id="152" name="Google Shape;152;g3d535a6d835_5_500"/>
          <p:cNvSpPr txBox="1"/>
          <p:nvPr>
            <p:ph idx="2" type="body"/>
          </p:nvPr>
        </p:nvSpPr>
        <p:spPr>
          <a:xfrm>
            <a:off x="838200" y="706810"/>
            <a:ext cx="10856100" cy="746400"/>
          </a:xfrm>
          <a:prstGeom prst="rect">
            <a:avLst/>
          </a:prstGeom>
          <a:noFill/>
          <a:ln>
            <a:noFill/>
          </a:ln>
        </p:spPr>
        <p:txBody>
          <a:bodyPr anchorCtr="0" anchor="t" bIns="45700" lIns="91425" spcFirstLastPara="1" rIns="91425" wrap="square" tIns="45700">
            <a:normAutofit/>
          </a:bodyPr>
          <a:lstStyle>
            <a:lvl1pPr indent="-228600" lvl="0" marL="457200" marR="0" algn="l">
              <a:lnSpc>
                <a:spcPct val="90000"/>
              </a:lnSpc>
              <a:spcBef>
                <a:spcPts val="1000"/>
              </a:spcBef>
              <a:spcAft>
                <a:spcPts val="0"/>
              </a:spcAft>
              <a:buClr>
                <a:srgbClr val="124734"/>
              </a:buClr>
              <a:buSzPts val="5400"/>
              <a:buFont typeface="Arial"/>
              <a:buNone/>
              <a:defRPr b="0" i="0" sz="5400" u="none" cap="none" strike="noStrike">
                <a:solidFill>
                  <a:srgbClr val="124734"/>
                </a:solidFill>
                <a:latin typeface="Arial"/>
                <a:ea typeface="Arial"/>
                <a:cs typeface="Arial"/>
                <a:sym typeface="Arial"/>
              </a:defRPr>
            </a:lvl1pPr>
            <a:lvl2pPr indent="-381000" lvl="1" marL="914400" marR="0" algn="l">
              <a:lnSpc>
                <a:spcPct val="90000"/>
              </a:lnSpc>
              <a:spcBef>
                <a:spcPts val="1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1600"/>
              </a:spcBef>
              <a:spcAft>
                <a:spcPts val="160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9" name="Shape 9"/>
        <p:cNvGrpSpPr/>
        <p:nvPr/>
      </p:nvGrpSpPr>
      <p:grpSpPr>
        <a:xfrm>
          <a:off x="0" y="0"/>
          <a:ext cx="0" cy="0"/>
          <a:chOff x="0" y="0"/>
          <a:chExt cx="0" cy="0"/>
        </a:xfrm>
      </p:grpSpPr>
      <p:sp>
        <p:nvSpPr>
          <p:cNvPr id="10" name="Google Shape;10;g3d535a6d835_5_36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1pPr>
            <a:lvl2pPr lvl="1">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2pPr>
            <a:lvl3pPr lvl="2">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3pPr>
            <a:lvl4pPr lvl="3">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4pPr>
            <a:lvl5pPr lvl="4">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5pPr>
            <a:lvl6pPr lvl="5">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6pPr>
            <a:lvl7pPr lvl="6">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7pPr>
            <a:lvl8pPr lvl="7">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8pPr>
            <a:lvl9pPr lvl="8">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9pPr>
          </a:lstStyle>
          <a:p/>
        </p:txBody>
      </p:sp>
      <p:sp>
        <p:nvSpPr>
          <p:cNvPr id="11" name="Google Shape;11;g3d535a6d835_5_36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lt1"/>
              </a:buClr>
              <a:buSzPts val="1700"/>
              <a:buFont typeface="Lato"/>
              <a:buChar char="●"/>
              <a:defRPr sz="1700">
                <a:solidFill>
                  <a:schemeClr val="lt1"/>
                </a:solidFill>
                <a:latin typeface="Lato"/>
                <a:ea typeface="Lato"/>
                <a:cs typeface="Lato"/>
                <a:sym typeface="Lato"/>
              </a:defRPr>
            </a:lvl1pPr>
            <a:lvl2pPr indent="-323850" lvl="1" marL="914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2pPr>
            <a:lvl3pPr indent="-323850" lvl="2" marL="1371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3pPr>
            <a:lvl4pPr indent="-323850" lvl="3" marL="1828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4pPr>
            <a:lvl5pPr indent="-323850" lvl="4" marL="22860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5pPr>
            <a:lvl6pPr indent="-323850" lvl="5" marL="27432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6pPr>
            <a:lvl7pPr indent="-323850" lvl="6" marL="3200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7pPr>
            <a:lvl8pPr indent="-323850" lvl="7" marL="3657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8pPr>
            <a:lvl9pPr indent="-323850" lvl="8" marL="4114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9pPr>
          </a:lstStyle>
          <a:p/>
        </p:txBody>
      </p:sp>
      <p:sp>
        <p:nvSpPr>
          <p:cNvPr id="12" name="Google Shape;12;g3d535a6d835_5_36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
          <p:cNvSpPr txBox="1"/>
          <p:nvPr>
            <p:ph type="ctrTitle"/>
          </p:nvPr>
        </p:nvSpPr>
        <p:spPr>
          <a:xfrm>
            <a:off x="820228" y="1221611"/>
            <a:ext cx="10734040" cy="94048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C629"/>
              </a:buClr>
              <a:buSzPts val="6000"/>
              <a:buFont typeface="Arial"/>
              <a:buNone/>
            </a:pPr>
            <a:r>
              <a:rPr lang="en-US">
                <a:latin typeface="Times New Roman"/>
                <a:ea typeface="Times New Roman"/>
                <a:cs typeface="Times New Roman"/>
                <a:sym typeface="Times New Roman"/>
              </a:rPr>
              <a:t>Nuclear Plant Public Alert System</a:t>
            </a:r>
            <a:endParaRPr>
              <a:latin typeface="Times New Roman"/>
              <a:ea typeface="Times New Roman"/>
              <a:cs typeface="Times New Roman"/>
              <a:sym typeface="Times New Roman"/>
            </a:endParaRPr>
          </a:p>
        </p:txBody>
      </p:sp>
      <p:sp>
        <p:nvSpPr>
          <p:cNvPr id="158" name="Google Shape;158;p1"/>
          <p:cNvSpPr txBox="1"/>
          <p:nvPr>
            <p:ph idx="1" type="subTitle"/>
          </p:nvPr>
        </p:nvSpPr>
        <p:spPr>
          <a:xfrm>
            <a:off x="899350" y="3014718"/>
            <a:ext cx="10734000" cy="16653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spcBef>
                <a:spcPts val="0"/>
              </a:spcBef>
              <a:spcAft>
                <a:spcPts val="0"/>
              </a:spcAft>
              <a:buClr>
                <a:schemeClr val="dk1"/>
              </a:buClr>
              <a:buSzPct val="45833"/>
              <a:buNone/>
            </a:pPr>
            <a:r>
              <a:rPr lang="en-US">
                <a:solidFill>
                  <a:srgbClr val="FFC629"/>
                </a:solidFill>
                <a:latin typeface="Times New Roman"/>
                <a:ea typeface="Times New Roman"/>
                <a:cs typeface="Times New Roman"/>
                <a:sym typeface="Times New Roman"/>
              </a:rPr>
              <a:t>By: </a:t>
            </a:r>
            <a:endParaRPr>
              <a:solidFill>
                <a:srgbClr val="FFC629"/>
              </a:solidFill>
              <a:latin typeface="Times New Roman"/>
              <a:ea typeface="Times New Roman"/>
              <a:cs typeface="Times New Roman"/>
              <a:sym typeface="Times New Roman"/>
            </a:endParaRPr>
          </a:p>
          <a:p>
            <a:pPr indent="-323850" lvl="0" marL="457200" rtl="0" algn="l">
              <a:spcBef>
                <a:spcPts val="1600"/>
              </a:spcBef>
              <a:spcAft>
                <a:spcPts val="0"/>
              </a:spcAft>
              <a:buClr>
                <a:srgbClr val="FFC629"/>
              </a:buClr>
              <a:buSzPct val="100000"/>
              <a:buFont typeface="Times New Roman"/>
              <a:buChar char="●"/>
            </a:pPr>
            <a:r>
              <a:rPr lang="en-US">
                <a:solidFill>
                  <a:srgbClr val="FFC629"/>
                </a:solidFill>
                <a:latin typeface="Times New Roman"/>
                <a:ea typeface="Times New Roman"/>
                <a:cs typeface="Times New Roman"/>
                <a:sym typeface="Times New Roman"/>
              </a:rPr>
              <a:t>Cobie Caburao (200436566)</a:t>
            </a:r>
            <a:endParaRPr>
              <a:solidFill>
                <a:srgbClr val="FFC629"/>
              </a:solidFill>
              <a:latin typeface="Times New Roman"/>
              <a:ea typeface="Times New Roman"/>
              <a:cs typeface="Times New Roman"/>
              <a:sym typeface="Times New Roman"/>
            </a:endParaRPr>
          </a:p>
          <a:p>
            <a:pPr indent="-323850" lvl="0" marL="457200" rtl="0" algn="l">
              <a:spcBef>
                <a:spcPts val="0"/>
              </a:spcBef>
              <a:spcAft>
                <a:spcPts val="0"/>
              </a:spcAft>
              <a:buClr>
                <a:srgbClr val="FFC629"/>
              </a:buClr>
              <a:buSzPct val="100000"/>
              <a:buFont typeface="Times New Roman"/>
              <a:buChar char="●"/>
            </a:pPr>
            <a:r>
              <a:rPr lang="en-US">
                <a:solidFill>
                  <a:srgbClr val="FFC629"/>
                </a:solidFill>
                <a:latin typeface="Times New Roman"/>
                <a:ea typeface="Times New Roman"/>
                <a:cs typeface="Times New Roman"/>
                <a:sym typeface="Times New Roman"/>
              </a:rPr>
              <a:t>Kamran Aqeel (200482882)</a:t>
            </a:r>
            <a:endParaRPr>
              <a:solidFill>
                <a:srgbClr val="FFC629"/>
              </a:solidFill>
              <a:latin typeface="Times New Roman"/>
              <a:ea typeface="Times New Roman"/>
              <a:cs typeface="Times New Roman"/>
              <a:sym typeface="Times New Roman"/>
            </a:endParaRPr>
          </a:p>
          <a:p>
            <a:pPr indent="-323850" lvl="0" marL="457200" rtl="0" algn="l">
              <a:spcBef>
                <a:spcPts val="0"/>
              </a:spcBef>
              <a:spcAft>
                <a:spcPts val="0"/>
              </a:spcAft>
              <a:buClr>
                <a:srgbClr val="FFC629"/>
              </a:buClr>
              <a:buSzPct val="100000"/>
              <a:buFont typeface="Times New Roman"/>
              <a:buChar char="●"/>
            </a:pPr>
            <a:r>
              <a:rPr lang="en-US">
                <a:solidFill>
                  <a:srgbClr val="FFC629"/>
                </a:solidFill>
                <a:latin typeface="Times New Roman"/>
                <a:ea typeface="Times New Roman"/>
                <a:cs typeface="Times New Roman"/>
                <a:sym typeface="Times New Roman"/>
              </a:rPr>
              <a:t>Bright Ugbor (200461156)</a:t>
            </a:r>
            <a:endParaRPr>
              <a:solidFill>
                <a:srgbClr val="FFC629"/>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lt1"/>
              </a:buClr>
              <a:buSzPct val="100000"/>
              <a:buNone/>
            </a:pPr>
            <a:r>
              <a:t/>
            </a:r>
            <a:endParaRPr/>
          </a:p>
          <a:p>
            <a:pPr indent="0" lvl="0" marL="0" rtl="0" algn="l">
              <a:lnSpc>
                <a:spcPct val="90000"/>
              </a:lnSpc>
              <a:spcBef>
                <a:spcPts val="1000"/>
              </a:spcBef>
              <a:spcAft>
                <a:spcPts val="1600"/>
              </a:spcAft>
              <a:buClr>
                <a:schemeClr val="lt1"/>
              </a:buClr>
              <a:buSzPct val="100000"/>
              <a:buNone/>
            </a:pPr>
            <a:r>
              <a:t/>
            </a:r>
            <a:endParaRPr/>
          </a:p>
        </p:txBody>
      </p:sp>
      <p:sp>
        <p:nvSpPr>
          <p:cNvPr id="159" name="Google Shape;159;p1"/>
          <p:cNvSpPr txBox="1"/>
          <p:nvPr>
            <p:ph idx="2" type="body"/>
          </p:nvPr>
        </p:nvSpPr>
        <p:spPr>
          <a:xfrm>
            <a:off x="359185" y="5838093"/>
            <a:ext cx="2246700" cy="549000"/>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100000"/>
              </a:lnSpc>
              <a:spcBef>
                <a:spcPts val="0"/>
              </a:spcBef>
              <a:spcAft>
                <a:spcPts val="0"/>
              </a:spcAft>
              <a:buClr>
                <a:schemeClr val="dk1"/>
              </a:buClr>
              <a:buSzPts val="1800"/>
              <a:buNone/>
            </a:pPr>
            <a:r>
              <a:rPr lang="en-US">
                <a:latin typeface="Arial"/>
                <a:ea typeface="Arial"/>
                <a:cs typeface="Arial"/>
                <a:sym typeface="Arial"/>
              </a:rPr>
              <a:t>Week </a:t>
            </a:r>
            <a:r>
              <a:rPr lang="en-US"/>
              <a:t>13</a:t>
            </a:r>
            <a:endParaRPr/>
          </a:p>
          <a:p>
            <a:pPr indent="0" lvl="0" marL="0" rtl="0" algn="l">
              <a:lnSpc>
                <a:spcPct val="100000"/>
              </a:lnSpc>
              <a:spcBef>
                <a:spcPts val="0"/>
              </a:spcBef>
              <a:spcAft>
                <a:spcPts val="1600"/>
              </a:spcAft>
              <a:buClr>
                <a:schemeClr val="dk1"/>
              </a:buClr>
              <a:buSzPts val="1800"/>
              <a:buNone/>
            </a:pPr>
            <a:r>
              <a:rPr lang="en-US"/>
              <a:t>April 10, 2026</a:t>
            </a:r>
            <a:endParaRPr/>
          </a:p>
        </p:txBody>
      </p:sp>
      <p:sp>
        <p:nvSpPr>
          <p:cNvPr id="160" name="Google Shape;160;p1"/>
          <p:cNvSpPr txBox="1"/>
          <p:nvPr/>
        </p:nvSpPr>
        <p:spPr>
          <a:xfrm>
            <a:off x="3101788" y="5838094"/>
            <a:ext cx="2868600" cy="5490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Software Testing and Validation (ENSE 375)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
          <p:cNvSpPr txBox="1"/>
          <p:nvPr>
            <p:ph idx="1" type="subTitle"/>
          </p:nvPr>
        </p:nvSpPr>
        <p:spPr>
          <a:xfrm>
            <a:off x="838200" y="1839433"/>
            <a:ext cx="10376338" cy="4200529"/>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Arial"/>
              <a:buChar char="•"/>
            </a:pPr>
            <a:r>
              <a:rPr lang="en-US" sz="2800">
                <a:latin typeface="Gill Sans"/>
                <a:ea typeface="Gill Sans"/>
                <a:cs typeface="Gill Sans"/>
                <a:sym typeface="Gill Sans"/>
              </a:rPr>
              <a:t>Introduction</a:t>
            </a:r>
            <a:endParaRPr/>
          </a:p>
          <a:p>
            <a:pPr indent="-342900" lvl="0" marL="342900" rtl="0" algn="l">
              <a:lnSpc>
                <a:spcPct val="100000"/>
              </a:lnSpc>
              <a:spcBef>
                <a:spcPts val="1000"/>
              </a:spcBef>
              <a:spcAft>
                <a:spcPts val="0"/>
              </a:spcAft>
              <a:buClr>
                <a:schemeClr val="dk1"/>
              </a:buClr>
              <a:buSzPts val="2800"/>
              <a:buFont typeface="Arial"/>
              <a:buChar char="•"/>
            </a:pPr>
            <a:r>
              <a:rPr lang="en-US" sz="2800">
                <a:latin typeface="Gill Sans"/>
                <a:ea typeface="Gill Sans"/>
                <a:cs typeface="Gill Sans"/>
                <a:sym typeface="Gill Sans"/>
              </a:rPr>
              <a:t>Problem Definition</a:t>
            </a:r>
            <a:endParaRPr/>
          </a:p>
          <a:p>
            <a:pPr indent="-342900" lvl="0" marL="342900" rtl="0" algn="l">
              <a:lnSpc>
                <a:spcPct val="100000"/>
              </a:lnSpc>
              <a:spcBef>
                <a:spcPts val="1000"/>
              </a:spcBef>
              <a:spcAft>
                <a:spcPts val="0"/>
              </a:spcAft>
              <a:buClr>
                <a:schemeClr val="dk1"/>
              </a:buClr>
              <a:buSzPts val="2800"/>
              <a:buFont typeface="Arial"/>
              <a:buChar char="•"/>
            </a:pPr>
            <a:r>
              <a:rPr lang="en-US" sz="2800">
                <a:latin typeface="Gill Sans"/>
                <a:ea typeface="Gill Sans"/>
                <a:cs typeface="Gill Sans"/>
                <a:sym typeface="Gill Sans"/>
              </a:rPr>
              <a:t>Design Requirements</a:t>
            </a:r>
            <a:endParaRPr/>
          </a:p>
          <a:p>
            <a:pPr indent="-342900" lvl="0" marL="342900" rtl="0" algn="l">
              <a:lnSpc>
                <a:spcPct val="100000"/>
              </a:lnSpc>
              <a:spcBef>
                <a:spcPts val="1000"/>
              </a:spcBef>
              <a:spcAft>
                <a:spcPts val="0"/>
              </a:spcAft>
              <a:buClr>
                <a:schemeClr val="dk1"/>
              </a:buClr>
              <a:buSzPts val="2800"/>
              <a:buFont typeface="Arial"/>
              <a:buChar char="•"/>
            </a:pPr>
            <a:r>
              <a:rPr lang="en-US" sz="2800">
                <a:latin typeface="Gill Sans"/>
                <a:ea typeface="Gill Sans"/>
                <a:cs typeface="Gill Sans"/>
                <a:sym typeface="Gill Sans"/>
              </a:rPr>
              <a:t>Solutions</a:t>
            </a:r>
            <a:endParaRPr/>
          </a:p>
          <a:p>
            <a:pPr indent="-342900" lvl="0" marL="342900" rtl="0" algn="l">
              <a:lnSpc>
                <a:spcPct val="100000"/>
              </a:lnSpc>
              <a:spcBef>
                <a:spcPts val="1000"/>
              </a:spcBef>
              <a:spcAft>
                <a:spcPts val="0"/>
              </a:spcAft>
              <a:buClr>
                <a:schemeClr val="dk1"/>
              </a:buClr>
              <a:buSzPts val="2800"/>
              <a:buFont typeface="Arial"/>
              <a:buChar char="•"/>
            </a:pPr>
            <a:r>
              <a:rPr lang="en-US" sz="2800">
                <a:latin typeface="Gill Sans"/>
                <a:ea typeface="Gill Sans"/>
                <a:cs typeface="Gill Sans"/>
                <a:sym typeface="Gill Sans"/>
              </a:rPr>
              <a:t>Testing and Demonstration</a:t>
            </a:r>
            <a:endParaRPr/>
          </a:p>
          <a:p>
            <a:pPr indent="-342900" lvl="0" marL="342900" rtl="0" algn="l">
              <a:lnSpc>
                <a:spcPct val="100000"/>
              </a:lnSpc>
              <a:spcBef>
                <a:spcPts val="1000"/>
              </a:spcBef>
              <a:spcAft>
                <a:spcPts val="0"/>
              </a:spcAft>
              <a:buClr>
                <a:schemeClr val="dk1"/>
              </a:buClr>
              <a:buSzPts val="2800"/>
              <a:buFont typeface="Arial"/>
              <a:buChar char="•"/>
            </a:pPr>
            <a:r>
              <a:rPr lang="en-US" sz="2800">
                <a:latin typeface="Gill Sans"/>
                <a:ea typeface="Gill Sans"/>
                <a:cs typeface="Gill Sans"/>
                <a:sym typeface="Gill Sans"/>
              </a:rPr>
              <a:t>Project Management</a:t>
            </a:r>
            <a:endParaRPr/>
          </a:p>
          <a:p>
            <a:pPr indent="-342900" lvl="0" marL="342900" rtl="0" algn="l">
              <a:lnSpc>
                <a:spcPct val="100000"/>
              </a:lnSpc>
              <a:spcBef>
                <a:spcPts val="1000"/>
              </a:spcBef>
              <a:spcAft>
                <a:spcPts val="1600"/>
              </a:spcAft>
              <a:buClr>
                <a:schemeClr val="dk1"/>
              </a:buClr>
              <a:buSzPts val="2800"/>
              <a:buFont typeface="Arial"/>
              <a:buChar char="•"/>
            </a:pPr>
            <a:r>
              <a:rPr lang="en-US" sz="2800">
                <a:latin typeface="Gill Sans"/>
                <a:ea typeface="Gill Sans"/>
                <a:cs typeface="Gill Sans"/>
                <a:sym typeface="Gill Sans"/>
              </a:rPr>
              <a:t>Conclusion and Future Scope</a:t>
            </a:r>
            <a:endParaRPr/>
          </a:p>
        </p:txBody>
      </p:sp>
      <p:sp>
        <p:nvSpPr>
          <p:cNvPr id="167" name="Google Shape;167;p2"/>
          <p:cNvSpPr txBox="1"/>
          <p:nvPr>
            <p:ph idx="3" type="body"/>
          </p:nvPr>
        </p:nvSpPr>
        <p:spPr>
          <a:xfrm>
            <a:off x="838200" y="706810"/>
            <a:ext cx="10855961" cy="74636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1600"/>
              </a:spcAft>
              <a:buClr>
                <a:srgbClr val="124734"/>
              </a:buClr>
              <a:buSzPts val="5400"/>
              <a:buNone/>
            </a:pPr>
            <a:r>
              <a:rPr lang="en-US"/>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
          <p:cNvSpPr txBox="1"/>
          <p:nvPr>
            <p:ph idx="2" type="body"/>
          </p:nvPr>
        </p:nvSpPr>
        <p:spPr>
          <a:xfrm>
            <a:off x="668019" y="546776"/>
            <a:ext cx="10855961" cy="746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174" name="Google Shape;174;p3"/>
          <p:cNvSpPr txBox="1"/>
          <p:nvPr/>
        </p:nvSpPr>
        <p:spPr>
          <a:xfrm>
            <a:off x="668019" y="1429613"/>
            <a:ext cx="10734440" cy="46104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500"/>
              </a:spcBef>
              <a:spcAft>
                <a:spcPts val="0"/>
              </a:spcAft>
              <a:buNone/>
            </a:pPr>
            <a:r>
              <a:rPr b="1" lang="en-US" sz="1800">
                <a:solidFill>
                  <a:schemeClr val="dk1"/>
                </a:solidFill>
                <a:latin typeface="Times New Roman"/>
                <a:ea typeface="Times New Roman"/>
                <a:cs typeface="Times New Roman"/>
                <a:sym typeface="Times New Roman"/>
              </a:rPr>
              <a:t>Background Information:</a:t>
            </a:r>
            <a:endParaRPr b="1" sz="1800">
              <a:solidFill>
                <a:schemeClr val="dk1"/>
              </a:solidFill>
              <a:latin typeface="Times New Roman"/>
              <a:ea typeface="Times New Roman"/>
              <a:cs typeface="Times New Roman"/>
              <a:sym typeface="Times New Roman"/>
            </a:endParaRPr>
          </a:p>
          <a:p>
            <a:pPr indent="-342900" lvl="0" marL="457200" rtl="0" algn="l">
              <a:lnSpc>
                <a:spcPct val="90000"/>
              </a:lnSpc>
              <a:spcBef>
                <a:spcPts val="5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Accidental Pickering, Ont Nuclear Alert</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Nuclear power plants require reliable emergency alert systems</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False alarms can cause panic and reduce public trust</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Operators must be able to test the system safely</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Human error is a major risk during training exercises</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 structured alert system helps prevent accidental live alerts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Rationale:</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 Public Alert System is needed to send accurate emergency notifications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system must reduce human error and prevent false alarms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Layered verification improves safety and reliability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Ensures alerts are sent only during real emergencies</a:t>
            </a:r>
            <a:endParaRPr sz="1800">
              <a:solidFill>
                <a:schemeClr val="dk1"/>
              </a:solidFill>
              <a:latin typeface="Times New Roman"/>
              <a:ea typeface="Times New Roman"/>
              <a:cs typeface="Times New Roman"/>
              <a:sym typeface="Times New Roman"/>
            </a:endParaRPr>
          </a:p>
          <a:p>
            <a:pPr indent="0" lvl="0" marL="0" marR="0" rtl="0" algn="l">
              <a:lnSpc>
                <a:spcPct val="90000"/>
              </a:lnSpc>
              <a:spcBef>
                <a:spcPts val="1200"/>
              </a:spcBef>
              <a:spcAft>
                <a:spcPts val="0"/>
              </a:spcAft>
              <a:buNone/>
            </a:pPr>
            <a:r>
              <a:t/>
            </a:r>
            <a:endParaRPr sz="3200">
              <a:solidFill>
                <a:schemeClr val="dk1"/>
              </a:solidFill>
              <a:latin typeface="Gill Sans"/>
              <a:ea typeface="Gill Sans"/>
              <a:cs typeface="Gill Sans"/>
              <a:sym typeface="Gill Sans"/>
            </a:endParaRPr>
          </a:p>
          <a:p>
            <a:pPr indent="0" lvl="2" marL="6350" marR="0" rtl="0" algn="l">
              <a:lnSpc>
                <a:spcPct val="90000"/>
              </a:lnSpc>
              <a:spcBef>
                <a:spcPts val="500"/>
              </a:spcBef>
              <a:spcAft>
                <a:spcPts val="0"/>
              </a:spcAft>
              <a:buClr>
                <a:schemeClr val="dk1"/>
              </a:buClr>
              <a:buSzPts val="2600"/>
              <a:buFont typeface="Arial"/>
              <a:buNone/>
            </a:pPr>
            <a:r>
              <a:t/>
            </a:r>
            <a:endParaRPr b="0" i="0" sz="2600" u="none" cap="none" strike="noStrike">
              <a:solidFill>
                <a:schemeClr val="dk1"/>
              </a:solidFill>
              <a:latin typeface="Gill Sans"/>
              <a:ea typeface="Gill Sans"/>
              <a:cs typeface="Gill Sans"/>
              <a:sym typeface="Gill Sans"/>
            </a:endParaRPr>
          </a:p>
          <a:p>
            <a:pPr indent="-165100" lvl="0" marL="342900" marR="0" rtl="0" algn="l">
              <a:lnSpc>
                <a:spcPct val="100000"/>
              </a:lnSpc>
              <a:spcBef>
                <a:spcPts val="1000"/>
              </a:spcBef>
              <a:spcAft>
                <a:spcPts val="0"/>
              </a:spcAft>
              <a:buClr>
                <a:srgbClr val="FFC629"/>
              </a:buClr>
              <a:buSzPts val="2800"/>
              <a:buFont typeface="Arial"/>
              <a:buNone/>
            </a:pPr>
            <a:r>
              <a:t/>
            </a:r>
            <a:endParaRPr b="0" i="0" sz="2800" u="none" cap="none" strike="noStrike">
              <a:solidFill>
                <a:schemeClr val="dk1"/>
              </a:solidFill>
              <a:latin typeface="Arial"/>
              <a:ea typeface="Arial"/>
              <a:cs typeface="Arial"/>
              <a:sym typeface="Arial"/>
            </a:endParaRPr>
          </a:p>
          <a:p>
            <a:pPr indent="-139700" lvl="0" marL="342900" marR="0" rtl="0" algn="l">
              <a:lnSpc>
                <a:spcPct val="100000"/>
              </a:lnSpc>
              <a:spcBef>
                <a:spcPts val="1000"/>
              </a:spcBef>
              <a:spcAft>
                <a:spcPts val="0"/>
              </a:spcAft>
              <a:buClr>
                <a:srgbClr val="FFC629"/>
              </a:buClr>
              <a:buSzPts val="3200"/>
              <a:buFont typeface="Arial"/>
              <a:buNone/>
            </a:pPr>
            <a:r>
              <a:t/>
            </a:r>
            <a:endParaRPr b="0" i="0" sz="3200" u="none" cap="none" strike="noStrike">
              <a:solidFill>
                <a:schemeClr val="dk1"/>
              </a:solidFill>
              <a:latin typeface="Gill Sans"/>
              <a:ea typeface="Gill Sans"/>
              <a:cs typeface="Gill Sans"/>
              <a:sym typeface="Gill Sans"/>
            </a:endParaRPr>
          </a:p>
          <a:p>
            <a:pPr indent="-213360" lvl="0" marL="342900" marR="0" rtl="0" algn="l">
              <a:lnSpc>
                <a:spcPct val="90000"/>
              </a:lnSpc>
              <a:spcBef>
                <a:spcPts val="720"/>
              </a:spcBef>
              <a:spcAft>
                <a:spcPts val="0"/>
              </a:spcAft>
              <a:buClr>
                <a:srgbClr val="FFC629"/>
              </a:buClr>
              <a:buSzPts val="2040"/>
              <a:buFont typeface="Arial"/>
              <a:buNone/>
            </a:pPr>
            <a:r>
              <a:t/>
            </a:r>
            <a:endParaRPr b="0" i="0" sz="2400" u="none" cap="none" strike="noStrike">
              <a:solidFill>
                <a:srgbClr val="FF0000"/>
              </a:solidFill>
              <a:latin typeface="Gill Sans"/>
              <a:ea typeface="Gill Sans"/>
              <a:cs typeface="Gill Sans"/>
              <a:sym typeface="Gill Sans"/>
            </a:endParaRPr>
          </a:p>
          <a:p>
            <a:pPr indent="-384810" lvl="0" marL="514350" marR="0" rtl="0" algn="l">
              <a:lnSpc>
                <a:spcPct val="90000"/>
              </a:lnSpc>
              <a:spcBef>
                <a:spcPts val="720"/>
              </a:spcBef>
              <a:spcAft>
                <a:spcPts val="0"/>
              </a:spcAft>
              <a:buClr>
                <a:srgbClr val="FFC629"/>
              </a:buClr>
              <a:buSzPts val="2040"/>
              <a:buFont typeface="Calibri"/>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
          <p:cNvSpPr txBox="1"/>
          <p:nvPr>
            <p:ph idx="2" type="body"/>
          </p:nvPr>
        </p:nvSpPr>
        <p:spPr>
          <a:xfrm>
            <a:off x="668019" y="546776"/>
            <a:ext cx="10855961" cy="746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Problem Definition</a:t>
            </a:r>
            <a:endParaRPr>
              <a:latin typeface="Times New Roman"/>
              <a:ea typeface="Times New Roman"/>
              <a:cs typeface="Times New Roman"/>
              <a:sym typeface="Times New Roman"/>
            </a:endParaRPr>
          </a:p>
        </p:txBody>
      </p:sp>
      <p:sp>
        <p:nvSpPr>
          <p:cNvPr id="181" name="Google Shape;181;p4"/>
          <p:cNvSpPr txBox="1"/>
          <p:nvPr/>
        </p:nvSpPr>
        <p:spPr>
          <a:xfrm>
            <a:off x="668019" y="1429613"/>
            <a:ext cx="10734440" cy="46104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Public alert system must provide concise information and relevant instructions for a given emergency, and reduce the chance of human error triggering false alarms by having multiple conditions required to transition from training mode to live. This allows for safe testing without </a:t>
            </a:r>
            <a:r>
              <a:rPr lang="en-US" sz="1800">
                <a:solidFill>
                  <a:schemeClr val="dk1"/>
                </a:solidFill>
                <a:latin typeface="Times New Roman"/>
                <a:ea typeface="Times New Roman"/>
                <a:cs typeface="Times New Roman"/>
                <a:sym typeface="Times New Roman"/>
              </a:rPr>
              <a:t>causing</a:t>
            </a:r>
            <a:r>
              <a:rPr lang="en-US" sz="1800">
                <a:solidFill>
                  <a:schemeClr val="dk1"/>
                </a:solidFill>
                <a:latin typeface="Times New Roman"/>
                <a:ea typeface="Times New Roman"/>
                <a:cs typeface="Times New Roman"/>
                <a:sym typeface="Times New Roman"/>
              </a:rPr>
              <a:t> public panic and alarm fatigue, therefore real emergency alerts can be reacted to in an appropriate way.</a:t>
            </a:r>
            <a:endParaRPr sz="1800">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342900" lvl="0" marL="457200" marR="0" rtl="0" algn="l">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Public alert systems must be reliable and accurate</a:t>
            </a:r>
            <a:endParaRPr sz="1800">
              <a:latin typeface="Times New Roman"/>
              <a:ea typeface="Times New Roman"/>
              <a:cs typeface="Times New Roman"/>
              <a:sym typeface="Times New Roman"/>
            </a:endParaRPr>
          </a:p>
          <a:p>
            <a:pPr indent="-342900" lvl="0" marL="457200" marR="0" rtl="0" algn="l">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Multiple levels of verification can lead to fewer accidental emergency notifications</a:t>
            </a:r>
            <a:endParaRPr sz="1800">
              <a:latin typeface="Times New Roman"/>
              <a:ea typeface="Times New Roman"/>
              <a:cs typeface="Times New Roman"/>
              <a:sym typeface="Times New Roman"/>
            </a:endParaRPr>
          </a:p>
          <a:p>
            <a:pPr indent="-342900" lvl="0" marL="457200" marR="0" rtl="0" algn="l">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System needs safe testing without notifying the public</a:t>
            </a:r>
            <a:endParaRPr sz="1800">
              <a:latin typeface="Times New Roman"/>
              <a:ea typeface="Times New Roman"/>
              <a:cs typeface="Times New Roman"/>
              <a:sym typeface="Times New Roman"/>
            </a:endParaRPr>
          </a:p>
          <a:p>
            <a:pPr indent="-177800" lvl="1" marL="457200" marR="0" rtl="0" algn="l">
              <a:lnSpc>
                <a:spcPct val="90000"/>
              </a:lnSpc>
              <a:spcBef>
                <a:spcPts val="500"/>
              </a:spcBef>
              <a:spcAft>
                <a:spcPts val="0"/>
              </a:spcAft>
              <a:buClr>
                <a:schemeClr val="dk1"/>
              </a:buClr>
              <a:buSzPts val="2600"/>
              <a:buFont typeface="Arial"/>
              <a:buNone/>
            </a:pPr>
            <a:r>
              <a:t/>
            </a:r>
            <a:endParaRPr i="0" sz="1800" u="none" cap="none" strike="noStrike">
              <a:solidFill>
                <a:schemeClr val="dk1"/>
              </a:solidFill>
              <a:highlight>
                <a:schemeClr val="dk2"/>
              </a:highlight>
              <a:latin typeface="Times New Roman"/>
              <a:ea typeface="Times New Roman"/>
              <a:cs typeface="Times New Roman"/>
              <a:sym typeface="Times New Roman"/>
            </a:endParaRPr>
          </a:p>
          <a:p>
            <a:pPr indent="-165100" lvl="0" marL="342900" marR="0" rtl="0" algn="l">
              <a:lnSpc>
                <a:spcPct val="100000"/>
              </a:lnSpc>
              <a:spcBef>
                <a:spcPts val="1000"/>
              </a:spcBef>
              <a:spcAft>
                <a:spcPts val="0"/>
              </a:spcAft>
              <a:buClr>
                <a:srgbClr val="FFC629"/>
              </a:buClr>
              <a:buSzPts val="2800"/>
              <a:buFont typeface="Arial"/>
              <a:buNone/>
            </a:pPr>
            <a:r>
              <a:t/>
            </a:r>
            <a:endParaRPr i="0" sz="1800" u="none" cap="none" strike="noStrike">
              <a:solidFill>
                <a:schemeClr val="dk1"/>
              </a:solidFill>
              <a:highlight>
                <a:schemeClr val="dk2"/>
              </a:highlight>
              <a:latin typeface="Times New Roman"/>
              <a:ea typeface="Times New Roman"/>
              <a:cs typeface="Times New Roman"/>
              <a:sym typeface="Times New Roman"/>
            </a:endParaRPr>
          </a:p>
          <a:p>
            <a:pPr indent="-139700" lvl="0" marL="342900" marR="0" rtl="0" algn="l">
              <a:lnSpc>
                <a:spcPct val="100000"/>
              </a:lnSpc>
              <a:spcBef>
                <a:spcPts val="1000"/>
              </a:spcBef>
              <a:spcAft>
                <a:spcPts val="0"/>
              </a:spcAft>
              <a:buClr>
                <a:srgbClr val="FFC629"/>
              </a:buClr>
              <a:buSzPts val="3200"/>
              <a:buFont typeface="Arial"/>
              <a:buNone/>
            </a:pPr>
            <a:r>
              <a:t/>
            </a:r>
            <a:endParaRPr i="0" sz="1800" u="none" cap="none" strike="noStrike">
              <a:solidFill>
                <a:srgbClr val="1F2328"/>
              </a:solidFill>
              <a:highlight>
                <a:schemeClr val="dk2"/>
              </a:highlight>
              <a:latin typeface="Times New Roman"/>
              <a:ea typeface="Times New Roman"/>
              <a:cs typeface="Times New Roman"/>
              <a:sym typeface="Times New Roman"/>
            </a:endParaRPr>
          </a:p>
          <a:p>
            <a:pPr indent="-213360" lvl="0" marL="342900" marR="0" rtl="0" algn="l">
              <a:lnSpc>
                <a:spcPct val="90000"/>
              </a:lnSpc>
              <a:spcBef>
                <a:spcPts val="720"/>
              </a:spcBef>
              <a:spcAft>
                <a:spcPts val="0"/>
              </a:spcAft>
              <a:buClr>
                <a:srgbClr val="FFC629"/>
              </a:buClr>
              <a:buSzPts val="2040"/>
              <a:buFont typeface="Arial"/>
              <a:buNone/>
            </a:pPr>
            <a:r>
              <a:t/>
            </a:r>
            <a:endParaRPr i="0" sz="1800" u="none" cap="none" strike="noStrike">
              <a:solidFill>
                <a:srgbClr val="1F2328"/>
              </a:solidFill>
              <a:highlight>
                <a:schemeClr val="dk2"/>
              </a:highlight>
              <a:latin typeface="Times New Roman"/>
              <a:ea typeface="Times New Roman"/>
              <a:cs typeface="Times New Roman"/>
              <a:sym typeface="Times New Roman"/>
            </a:endParaRPr>
          </a:p>
          <a:p>
            <a:pPr indent="-384810" lvl="0" marL="514350" marR="0" rtl="0" algn="l">
              <a:lnSpc>
                <a:spcPct val="90000"/>
              </a:lnSpc>
              <a:spcBef>
                <a:spcPts val="720"/>
              </a:spcBef>
              <a:spcAft>
                <a:spcPts val="0"/>
              </a:spcAft>
              <a:buClr>
                <a:srgbClr val="FFC629"/>
              </a:buClr>
              <a:buSzPts val="2040"/>
              <a:buFont typeface="Calibri"/>
              <a:buNone/>
            </a:pPr>
            <a:r>
              <a:t/>
            </a:r>
            <a:endParaRPr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idx="2" type="body"/>
          </p:nvPr>
        </p:nvSpPr>
        <p:spPr>
          <a:xfrm>
            <a:off x="668019" y="546776"/>
            <a:ext cx="10855961" cy="746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Design Requirements</a:t>
            </a:r>
            <a:endParaRPr>
              <a:latin typeface="Times New Roman"/>
              <a:ea typeface="Times New Roman"/>
              <a:cs typeface="Times New Roman"/>
              <a:sym typeface="Times New Roman"/>
            </a:endParaRPr>
          </a:p>
        </p:txBody>
      </p:sp>
      <p:sp>
        <p:nvSpPr>
          <p:cNvPr id="188" name="Google Shape;188;p5"/>
          <p:cNvSpPr txBox="1"/>
          <p:nvPr/>
        </p:nvSpPr>
        <p:spPr>
          <a:xfrm>
            <a:off x="728782" y="1123763"/>
            <a:ext cx="10734300" cy="461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i="0" lang="en-US" sz="1800" u="none" cap="none" strike="noStrike">
                <a:solidFill>
                  <a:schemeClr val="dk1"/>
                </a:solidFill>
                <a:latin typeface="Times New Roman"/>
                <a:ea typeface="Times New Roman"/>
                <a:cs typeface="Times New Roman"/>
                <a:sym typeface="Times New Roman"/>
              </a:rPr>
              <a:t>Functions</a:t>
            </a:r>
            <a:r>
              <a:rPr i="0" lang="en-US" sz="1800" u="none" cap="none" strike="noStrike">
                <a:solidFill>
                  <a:schemeClr val="dk1"/>
                </a:solidFill>
                <a:latin typeface="Times New Roman"/>
                <a:ea typeface="Times New Roman"/>
                <a:cs typeface="Times New Roman"/>
                <a:sym typeface="Times New Roman"/>
              </a:rPr>
              <a:t>:</a:t>
            </a:r>
            <a:endParaRPr i="0" sz="1800" u="none" cap="none" strike="noStrike">
              <a:solidFill>
                <a:schemeClr val="dk1"/>
              </a:solidFill>
              <a:latin typeface="Times New Roman"/>
              <a:ea typeface="Times New Roman"/>
              <a:cs typeface="Times New Roman"/>
              <a:sym typeface="Times New Roman"/>
            </a:endParaRPr>
          </a:p>
          <a:p>
            <a:pPr indent="-330200" lvl="0" marL="457200" marR="0" rtl="0" algn="l">
              <a:lnSpc>
                <a:spcPct val="100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Send alerts to the Emergency Planning Zone (EPZ)</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Allow training without triggering real alerts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Log alert activity for auditing</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None/>
            </a:pPr>
            <a:r>
              <a:rPr b="1" i="0" lang="en-US" sz="1800" u="none" cap="none" strike="noStrike">
                <a:solidFill>
                  <a:schemeClr val="dk1"/>
                </a:solidFill>
                <a:latin typeface="Times New Roman"/>
                <a:ea typeface="Times New Roman"/>
                <a:cs typeface="Times New Roman"/>
                <a:sym typeface="Times New Roman"/>
              </a:rPr>
              <a:t>Objectives:</a:t>
            </a:r>
            <a:endParaRPr b="1" i="0" sz="1800" u="none" cap="none" strike="noStrike">
              <a:solidFill>
                <a:schemeClr val="dk1"/>
              </a:solidFill>
              <a:latin typeface="Times New Roman"/>
              <a:ea typeface="Times New Roman"/>
              <a:cs typeface="Times New Roman"/>
              <a:sym typeface="Times New Roman"/>
            </a:endParaRPr>
          </a:p>
          <a:p>
            <a:pPr indent="-330200" lvl="0" marL="457200" marR="0" rtl="0" algn="l">
              <a:lnSpc>
                <a:spcPct val="100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Minimize human error</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Prevent </a:t>
            </a:r>
            <a:r>
              <a:rPr lang="en-US" sz="1600">
                <a:solidFill>
                  <a:schemeClr val="dk1"/>
                </a:solidFill>
                <a:latin typeface="Times New Roman"/>
                <a:ea typeface="Times New Roman"/>
                <a:cs typeface="Times New Roman"/>
                <a:sym typeface="Times New Roman"/>
              </a:rPr>
              <a:t>false</a:t>
            </a:r>
            <a:r>
              <a:rPr lang="en-US" sz="1600">
                <a:solidFill>
                  <a:schemeClr val="dk1"/>
                </a:solidFill>
                <a:latin typeface="Times New Roman"/>
                <a:ea typeface="Times New Roman"/>
                <a:cs typeface="Times New Roman"/>
                <a:sym typeface="Times New Roman"/>
              </a:rPr>
              <a:t> alarms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Ensure fast and reliable alerts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Provide safe operator training</a:t>
            </a:r>
            <a:endParaRPr sz="1600">
              <a:solidFill>
                <a:schemeClr val="dk1"/>
              </a:solidFill>
              <a:latin typeface="Times New Roman"/>
              <a:ea typeface="Times New Roman"/>
              <a:cs typeface="Times New Roman"/>
              <a:sym typeface="Times New Roman"/>
            </a:endParaRPr>
          </a:p>
          <a:p>
            <a:pPr indent="0" lvl="0" marL="0" rtl="0" algn="l">
              <a:spcBef>
                <a:spcPts val="1000"/>
              </a:spcBef>
              <a:spcAft>
                <a:spcPts val="0"/>
              </a:spcAft>
              <a:buNone/>
            </a:pPr>
            <a:r>
              <a:rPr b="1" lang="en-US" sz="1800">
                <a:solidFill>
                  <a:schemeClr val="dk1"/>
                </a:solidFill>
                <a:latin typeface="Times New Roman"/>
                <a:ea typeface="Times New Roman"/>
                <a:cs typeface="Times New Roman"/>
                <a:sym typeface="Times New Roman"/>
              </a:rPr>
              <a:t>Constraints: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Only Authorized users can send alerts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System must be reliable at all times</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Must be cost-effective</a:t>
            </a:r>
            <a:endParaRPr sz="1600">
              <a:solidFill>
                <a:schemeClr val="dk1"/>
              </a:solidFill>
              <a:latin typeface="Times New Roman"/>
              <a:ea typeface="Times New Roman"/>
              <a:cs typeface="Times New Roman"/>
              <a:sym typeface="Times New Roman"/>
            </a:endParaRPr>
          </a:p>
          <a:p>
            <a:pPr indent="-330200" lvl="0" marL="45720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Avoid </a:t>
            </a:r>
            <a:r>
              <a:rPr lang="en-US" sz="1600">
                <a:solidFill>
                  <a:schemeClr val="dk1"/>
                </a:solidFill>
                <a:latin typeface="Times New Roman"/>
                <a:ea typeface="Times New Roman"/>
                <a:cs typeface="Times New Roman"/>
                <a:sym typeface="Times New Roman"/>
              </a:rPr>
              <a:t>unnecessary</a:t>
            </a:r>
            <a:r>
              <a:rPr lang="en-US" sz="1600">
                <a:solidFill>
                  <a:schemeClr val="dk1"/>
                </a:solidFill>
                <a:latin typeface="Times New Roman"/>
                <a:ea typeface="Times New Roman"/>
                <a:cs typeface="Times New Roman"/>
                <a:sym typeface="Times New Roman"/>
              </a:rPr>
              <a:t> public panic</a:t>
            </a:r>
            <a:endParaRPr sz="1600">
              <a:solidFill>
                <a:schemeClr val="dk1"/>
              </a:solidFill>
              <a:latin typeface="Times New Roman"/>
              <a:ea typeface="Times New Roman"/>
              <a:cs typeface="Times New Roman"/>
              <a:sym typeface="Times New Roman"/>
            </a:endParaRPr>
          </a:p>
          <a:p>
            <a:pPr indent="-165100" lvl="0" marL="342900" marR="0" rtl="0" algn="l">
              <a:lnSpc>
                <a:spcPct val="100000"/>
              </a:lnSpc>
              <a:spcBef>
                <a:spcPts val="1000"/>
              </a:spcBef>
              <a:spcAft>
                <a:spcPts val="0"/>
              </a:spcAft>
              <a:buClr>
                <a:srgbClr val="FFC629"/>
              </a:buClr>
              <a:buSzPts val="2800"/>
              <a:buFont typeface="Arial"/>
              <a:buNone/>
            </a:pPr>
            <a:r>
              <a:t/>
            </a:r>
            <a:endParaRPr b="0" i="0" sz="2800" u="none" cap="none" strike="noStrike">
              <a:solidFill>
                <a:schemeClr val="dk1"/>
              </a:solidFill>
              <a:latin typeface="Arial"/>
              <a:ea typeface="Arial"/>
              <a:cs typeface="Arial"/>
              <a:sym typeface="Arial"/>
            </a:endParaRPr>
          </a:p>
          <a:p>
            <a:pPr indent="-139700" lvl="0" marL="342900" marR="0" rtl="0" algn="l">
              <a:lnSpc>
                <a:spcPct val="100000"/>
              </a:lnSpc>
              <a:spcBef>
                <a:spcPts val="1000"/>
              </a:spcBef>
              <a:spcAft>
                <a:spcPts val="0"/>
              </a:spcAft>
              <a:buClr>
                <a:srgbClr val="FFC629"/>
              </a:buClr>
              <a:buSzPts val="3200"/>
              <a:buFont typeface="Arial"/>
              <a:buNone/>
            </a:pPr>
            <a:r>
              <a:t/>
            </a:r>
            <a:endParaRPr b="0" i="0" sz="3200" u="none" cap="none" strike="noStrike">
              <a:solidFill>
                <a:schemeClr val="dk1"/>
              </a:solidFill>
              <a:latin typeface="Gill Sans"/>
              <a:ea typeface="Gill Sans"/>
              <a:cs typeface="Gill Sans"/>
              <a:sym typeface="Gill Sans"/>
            </a:endParaRPr>
          </a:p>
          <a:p>
            <a:pPr indent="-213360" lvl="0" marL="342900" marR="0" rtl="0" algn="l">
              <a:lnSpc>
                <a:spcPct val="90000"/>
              </a:lnSpc>
              <a:spcBef>
                <a:spcPts val="720"/>
              </a:spcBef>
              <a:spcAft>
                <a:spcPts val="0"/>
              </a:spcAft>
              <a:buClr>
                <a:srgbClr val="FFC629"/>
              </a:buClr>
              <a:buSzPts val="2040"/>
              <a:buFont typeface="Arial"/>
              <a:buNone/>
            </a:pPr>
            <a:r>
              <a:t/>
            </a:r>
            <a:endParaRPr b="0" i="0" sz="2400" u="none" cap="none" strike="noStrike">
              <a:solidFill>
                <a:srgbClr val="FF0000"/>
              </a:solidFill>
              <a:latin typeface="Gill Sans"/>
              <a:ea typeface="Gill Sans"/>
              <a:cs typeface="Gill Sans"/>
              <a:sym typeface="Gill Sans"/>
            </a:endParaRPr>
          </a:p>
          <a:p>
            <a:pPr indent="-384810" lvl="0" marL="514350" marR="0" rtl="0" algn="l">
              <a:lnSpc>
                <a:spcPct val="90000"/>
              </a:lnSpc>
              <a:spcBef>
                <a:spcPts val="720"/>
              </a:spcBef>
              <a:spcAft>
                <a:spcPts val="0"/>
              </a:spcAft>
              <a:buClr>
                <a:srgbClr val="FFC629"/>
              </a:buClr>
              <a:buSzPts val="2040"/>
              <a:buFont typeface="Calibri"/>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aphicFrame>
        <p:nvGraphicFramePr>
          <p:cNvPr id="194" name="Google Shape;194;p6"/>
          <p:cNvGraphicFramePr/>
          <p:nvPr/>
        </p:nvGraphicFramePr>
        <p:xfrm>
          <a:off x="233738" y="677513"/>
          <a:ext cx="3000000" cy="3000000"/>
        </p:xfrm>
        <a:graphic>
          <a:graphicData uri="http://schemas.openxmlformats.org/drawingml/2006/table">
            <a:tbl>
              <a:tblPr>
                <a:noFill/>
                <a:tableStyleId>{7A22B3A4-27FF-45BC-8B41-2AFEDED89D49}</a:tableStyleId>
              </a:tblPr>
              <a:tblGrid>
                <a:gridCol w="2931125"/>
                <a:gridCol w="2931125"/>
                <a:gridCol w="2931125"/>
                <a:gridCol w="2931125"/>
              </a:tblGrid>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Feature</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Solution 1</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Solution 2</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Final Solution</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9645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Architecture</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Dashboard-centered with loosely defined classes</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Improved structure with testing ideas</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Fully Modular PAS with clear components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Observer pattern to send alerts to people within the EPZ as well as trigger other alert methods like sirens and digital signs.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Decorator pattern is used to form the emergency messages that are sent to people.</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2075">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Seperation of Components</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Limited separation	</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Partial separation</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Clear separation (sensors, processing, state, alerts)</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Boundary Value Analysis</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Not clearly supported	</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Identified but not fully structured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Fully supported in sensor modules</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Equivalence Class Testing</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Not defined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Partially defined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Clearly defined inout ranges</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Decision Table Testing</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Difficult to apply</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Proposed but loosely connected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Applied to processing and alert logic</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48925">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State Transition Testing</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No defined state model</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Finite State Machine proposed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State Management Engine implemented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Testability</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Low</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Moderate</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High</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Input Validation</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Not clearly handled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Mentioned but not fully structured</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Implemented in sensor classification</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4700">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Modularity</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Low</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Medium</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High</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48925">
                <a:tc>
                  <a:txBody>
                    <a:bodyPr/>
                    <a:lstStyle/>
                    <a:p>
                      <a:pPr indent="0" lvl="0" marL="0" rtl="0" algn="ctr">
                        <a:spcBef>
                          <a:spcPts val="0"/>
                        </a:spcBef>
                        <a:spcAft>
                          <a:spcPts val="0"/>
                        </a:spcAft>
                        <a:buNone/>
                      </a:pPr>
                      <a:r>
                        <a:rPr b="1" lang="en-US" sz="1200">
                          <a:solidFill>
                            <a:schemeClr val="dk1"/>
                          </a:solidFill>
                          <a:latin typeface="Times New Roman"/>
                          <a:ea typeface="Times New Roman"/>
                          <a:cs typeface="Times New Roman"/>
                          <a:sym typeface="Times New Roman"/>
                        </a:rPr>
                        <a:t>Reason for Rejection/Selection</a:t>
                      </a:r>
                      <a:endParaRPr b="1"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Hard to test</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Better but not fully modular</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Fully Best support for systematic testing</a:t>
                      </a:r>
                      <a:endParaRPr sz="12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5" name="Google Shape;195;p6"/>
          <p:cNvSpPr txBox="1"/>
          <p:nvPr>
            <p:ph idx="2" type="body"/>
          </p:nvPr>
        </p:nvSpPr>
        <p:spPr>
          <a:xfrm>
            <a:off x="233750" y="0"/>
            <a:ext cx="10856100" cy="677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Solutions</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txBox="1"/>
          <p:nvPr>
            <p:ph idx="2" type="body"/>
          </p:nvPr>
        </p:nvSpPr>
        <p:spPr>
          <a:xfrm>
            <a:off x="668019" y="375326"/>
            <a:ext cx="10856100" cy="746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Testing and Demonstration</a:t>
            </a:r>
            <a:endParaRPr>
              <a:latin typeface="Times New Roman"/>
              <a:ea typeface="Times New Roman"/>
              <a:cs typeface="Times New Roman"/>
              <a:sym typeface="Times New Roman"/>
            </a:endParaRPr>
          </a:p>
        </p:txBody>
      </p:sp>
      <p:sp>
        <p:nvSpPr>
          <p:cNvPr id="202" name="Google Shape;202;p7"/>
          <p:cNvSpPr txBox="1"/>
          <p:nvPr/>
        </p:nvSpPr>
        <p:spPr>
          <a:xfrm>
            <a:off x="712350" y="1121725"/>
            <a:ext cx="10767300" cy="5055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For the final solution</a:t>
            </a:r>
            <a:r>
              <a:rPr b="1" lang="en-US" sz="1800">
                <a:solidFill>
                  <a:schemeClr val="dk1"/>
                </a:solidFill>
                <a:latin typeface="Times New Roman"/>
                <a:ea typeface="Times New Roman"/>
                <a:cs typeface="Times New Roman"/>
                <a:sym typeface="Times New Roman"/>
              </a:rPr>
              <a:t>, the following testing techniques were used:</a:t>
            </a:r>
            <a:endParaRPr b="1" sz="1800">
              <a:latin typeface="Times New Roman"/>
              <a:ea typeface="Times New Roman"/>
              <a:cs typeface="Times New Roman"/>
              <a:sym typeface="Times New Roman"/>
            </a:endParaRPr>
          </a:p>
          <a:p>
            <a:pPr indent="-330200" lvl="1" marL="914400" marR="0" rtl="0" algn="l">
              <a:lnSpc>
                <a:spcPct val="90000"/>
              </a:lnSpc>
              <a:spcBef>
                <a:spcPts val="5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Boundary Value Analysis</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Equivalence Class Testing</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Decision Table Testing</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State Transition Testing</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Functional Testing</a:t>
            </a:r>
            <a:endParaRPr sz="1600">
              <a:solidFill>
                <a:schemeClr val="dk1"/>
              </a:solidFill>
              <a:latin typeface="Times New Roman"/>
              <a:ea typeface="Times New Roman"/>
              <a:cs typeface="Times New Roman"/>
              <a:sym typeface="Times New Roman"/>
            </a:endParaRPr>
          </a:p>
          <a:p>
            <a:pPr indent="0" lvl="0" marL="0" marR="0" rtl="0" algn="l">
              <a:lnSpc>
                <a:spcPct val="90000"/>
              </a:lnSpc>
              <a:spcBef>
                <a:spcPts val="500"/>
              </a:spcBef>
              <a:spcAft>
                <a:spcPts val="0"/>
              </a:spcAft>
              <a:buNone/>
            </a:pPr>
            <a:r>
              <a:rPr b="1" lang="en-US" sz="1800">
                <a:solidFill>
                  <a:schemeClr val="dk1"/>
                </a:solidFill>
                <a:latin typeface="Times New Roman"/>
                <a:ea typeface="Times New Roman"/>
                <a:cs typeface="Times New Roman"/>
                <a:sym typeface="Times New Roman"/>
              </a:rPr>
              <a:t>The test cases covered the following components:</a:t>
            </a:r>
            <a:endParaRPr b="1" sz="1800">
              <a:solidFill>
                <a:schemeClr val="dk1"/>
              </a:solidFill>
              <a:latin typeface="Times New Roman"/>
              <a:ea typeface="Times New Roman"/>
              <a:cs typeface="Times New Roman"/>
              <a:sym typeface="Times New Roman"/>
            </a:endParaRPr>
          </a:p>
          <a:p>
            <a:pPr indent="-330200" lvl="1" marL="914400" marR="0" rtl="0" algn="l">
              <a:lnSpc>
                <a:spcPct val="90000"/>
              </a:lnSpc>
              <a:spcBef>
                <a:spcPts val="5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Temperature module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Pressure module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Radiation module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Seismometer module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DPU decision table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State engine</a:t>
            </a:r>
            <a:endParaRPr sz="1600">
              <a:solidFill>
                <a:schemeClr val="dk1"/>
              </a:solidFill>
              <a:latin typeface="Times New Roman"/>
              <a:ea typeface="Times New Roman"/>
              <a:cs typeface="Times New Roman"/>
              <a:sym typeface="Times New Roman"/>
            </a:endParaRPr>
          </a:p>
          <a:p>
            <a:pPr indent="-330200" lvl="1" marL="914400" marR="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Alert system</a:t>
            </a:r>
            <a:endParaRPr sz="1600">
              <a:solidFill>
                <a:schemeClr val="dk1"/>
              </a:solidFill>
              <a:latin typeface="Times New Roman"/>
              <a:ea typeface="Times New Roman"/>
              <a:cs typeface="Times New Roman"/>
              <a:sym typeface="Times New Roman"/>
            </a:endParaRPr>
          </a:p>
          <a:p>
            <a:pPr indent="0" lvl="0" marL="0" rtl="0" algn="l">
              <a:lnSpc>
                <a:spcPct val="90000"/>
              </a:lnSpc>
              <a:spcBef>
                <a:spcPts val="500"/>
              </a:spcBef>
              <a:spcAft>
                <a:spcPts val="0"/>
              </a:spcAft>
              <a:buNone/>
            </a:pPr>
            <a:r>
              <a:rPr b="1" lang="en-US" sz="1800">
                <a:solidFill>
                  <a:schemeClr val="dk1"/>
                </a:solidFill>
                <a:latin typeface="Times New Roman"/>
                <a:ea typeface="Times New Roman"/>
                <a:cs typeface="Times New Roman"/>
                <a:sym typeface="Times New Roman"/>
              </a:rPr>
              <a:t>Testing Results:</a:t>
            </a:r>
            <a:endParaRPr sz="1800">
              <a:solidFill>
                <a:schemeClr val="dk1"/>
              </a:solidFill>
              <a:latin typeface="Times New Roman"/>
              <a:ea typeface="Times New Roman"/>
              <a:cs typeface="Times New Roman"/>
              <a:sym typeface="Times New Roman"/>
            </a:endParaRPr>
          </a:p>
          <a:p>
            <a:pPr indent="-317500" lvl="1" marL="914400" rtl="0" algn="l">
              <a:lnSpc>
                <a:spcPct val="90000"/>
              </a:lnSpc>
              <a:spcBef>
                <a:spcPts val="500"/>
              </a:spcBef>
              <a:spcAft>
                <a:spcPts val="0"/>
              </a:spcAft>
              <a:buClr>
                <a:schemeClr val="dk1"/>
              </a:buClr>
              <a:buSzPts val="1400"/>
              <a:buFont typeface="Times New Roman"/>
              <a:buChar char="•"/>
            </a:pPr>
            <a:r>
              <a:rPr lang="en-US" sz="1600">
                <a:solidFill>
                  <a:schemeClr val="dk1"/>
                </a:solidFill>
                <a:latin typeface="Times New Roman"/>
                <a:ea typeface="Times New Roman"/>
                <a:cs typeface="Times New Roman"/>
                <a:sym typeface="Times New Roman"/>
              </a:rPr>
              <a:t>Sensor modules correctly classified readings into expected alert levels</a:t>
            </a:r>
            <a:endParaRPr sz="1600">
              <a:solidFill>
                <a:schemeClr val="dk1"/>
              </a:solidFill>
              <a:latin typeface="Times New Roman"/>
              <a:ea typeface="Times New Roman"/>
              <a:cs typeface="Times New Roman"/>
              <a:sym typeface="Times New Roman"/>
            </a:endParaRPr>
          </a:p>
          <a:p>
            <a:pPr indent="-330200" lvl="1" marL="91440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Boundary values were handled correctly</a:t>
            </a:r>
            <a:endParaRPr sz="1600">
              <a:solidFill>
                <a:schemeClr val="dk1"/>
              </a:solidFill>
              <a:latin typeface="Times New Roman"/>
              <a:ea typeface="Times New Roman"/>
              <a:cs typeface="Times New Roman"/>
              <a:sym typeface="Times New Roman"/>
            </a:endParaRPr>
          </a:p>
          <a:p>
            <a:pPr indent="-330200" lvl="1" marL="91440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Decision table logic worked as expected using the “highest severity wins” rule</a:t>
            </a:r>
            <a:endParaRPr sz="1600">
              <a:solidFill>
                <a:schemeClr val="dk1"/>
              </a:solidFill>
              <a:latin typeface="Times New Roman"/>
              <a:ea typeface="Times New Roman"/>
              <a:cs typeface="Times New Roman"/>
              <a:sym typeface="Times New Roman"/>
            </a:endParaRPr>
          </a:p>
          <a:p>
            <a:pPr indent="-330200" lvl="1" marL="91440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State transitions behaved correctly, including latch behaviour in the Critical state</a:t>
            </a:r>
            <a:endParaRPr sz="1600">
              <a:solidFill>
                <a:schemeClr val="dk1"/>
              </a:solidFill>
              <a:latin typeface="Times New Roman"/>
              <a:ea typeface="Times New Roman"/>
              <a:cs typeface="Times New Roman"/>
              <a:sym typeface="Times New Roman"/>
            </a:endParaRPr>
          </a:p>
          <a:p>
            <a:pPr indent="-330200" lvl="1" marL="91440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Alert system produced the correct output for each system condition</a:t>
            </a:r>
            <a:endParaRPr sz="1600">
              <a:solidFill>
                <a:schemeClr val="dk1"/>
              </a:solidFill>
              <a:latin typeface="Times New Roman"/>
              <a:ea typeface="Times New Roman"/>
              <a:cs typeface="Times New Roman"/>
              <a:sym typeface="Times New Roman"/>
            </a:endParaRPr>
          </a:p>
          <a:p>
            <a:pPr indent="-330200" lvl="1" marL="914400" rtl="0" algn="l">
              <a:lnSpc>
                <a:spcPct val="9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All test cases passed successfully when executed in the terminal</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
          <p:cNvSpPr txBox="1"/>
          <p:nvPr>
            <p:ph idx="2" type="body"/>
          </p:nvPr>
        </p:nvSpPr>
        <p:spPr>
          <a:xfrm>
            <a:off x="668019" y="546776"/>
            <a:ext cx="10855961" cy="74636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rgbClr val="124734"/>
              </a:buClr>
              <a:buSzPct val="100000"/>
              <a:buNone/>
            </a:pPr>
            <a:r>
              <a:rPr lang="en-US" sz="4400">
                <a:latin typeface="Times New Roman"/>
                <a:ea typeface="Times New Roman"/>
                <a:cs typeface="Times New Roman"/>
                <a:sym typeface="Times New Roman"/>
              </a:rPr>
              <a:t>Project Management</a:t>
            </a:r>
            <a:endParaRPr sz="4400">
              <a:latin typeface="Times New Roman"/>
              <a:ea typeface="Times New Roman"/>
              <a:cs typeface="Times New Roman"/>
              <a:sym typeface="Times New Roman"/>
            </a:endParaRPr>
          </a:p>
          <a:p>
            <a:pPr indent="0" lvl="0" marL="165100" rtl="0" algn="l">
              <a:lnSpc>
                <a:spcPct val="100000"/>
              </a:lnSpc>
              <a:spcBef>
                <a:spcPts val="1600"/>
              </a:spcBef>
              <a:spcAft>
                <a:spcPts val="0"/>
              </a:spcAft>
              <a:buClr>
                <a:srgbClr val="FFC629"/>
              </a:buClr>
              <a:buSzPct val="144444"/>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1600"/>
              </a:spcAft>
              <a:buClr>
                <a:srgbClr val="124734"/>
              </a:buClr>
              <a:buSzPct val="100000"/>
              <a:buNone/>
            </a:pPr>
            <a:r>
              <a:t/>
            </a:r>
            <a:endParaRPr sz="4400">
              <a:latin typeface="Times New Roman"/>
              <a:ea typeface="Times New Roman"/>
              <a:cs typeface="Times New Roman"/>
              <a:sym typeface="Times New Roman"/>
            </a:endParaRPr>
          </a:p>
        </p:txBody>
      </p:sp>
      <p:sp>
        <p:nvSpPr>
          <p:cNvPr id="209" name="Google Shape;209;p8"/>
          <p:cNvSpPr txBox="1"/>
          <p:nvPr/>
        </p:nvSpPr>
        <p:spPr>
          <a:xfrm>
            <a:off x="712350" y="1293125"/>
            <a:ext cx="10501200" cy="4883400"/>
          </a:xfrm>
          <a:prstGeom prst="rect">
            <a:avLst/>
          </a:prstGeom>
          <a:noFill/>
          <a:ln>
            <a:noFill/>
          </a:ln>
        </p:spPr>
        <p:txBody>
          <a:bodyPr anchorCtr="0" anchor="t" bIns="45700" lIns="91425" spcFirstLastPara="1" rIns="91425" wrap="square" tIns="45700">
            <a:noAutofit/>
          </a:bodyPr>
          <a:lstStyle/>
          <a:p>
            <a:pPr indent="-177800" lvl="0" marL="342900" rtl="0" algn="l">
              <a:spcBef>
                <a:spcPts val="1000"/>
              </a:spcBef>
              <a:spcAft>
                <a:spcPts val="0"/>
              </a:spcAft>
              <a:buClr>
                <a:srgbClr val="FFC629"/>
              </a:buClr>
              <a:buSzPts val="2600"/>
              <a:buFont typeface="Arial"/>
              <a:buNone/>
            </a:pPr>
            <a:r>
              <a:rPr lang="en-US" sz="1800">
                <a:solidFill>
                  <a:schemeClr val="dk1"/>
                </a:solidFill>
                <a:latin typeface="Times New Roman"/>
                <a:ea typeface="Times New Roman"/>
                <a:cs typeface="Times New Roman"/>
                <a:sym typeface="Times New Roman"/>
              </a:rPr>
              <a:t>To show the progression of our work on this project, we created a Gantt chart that outlines key tasks, milestones, and the timeline for completing each phase.</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idx="2" type="body"/>
          </p:nvPr>
        </p:nvSpPr>
        <p:spPr>
          <a:xfrm>
            <a:off x="668019" y="546776"/>
            <a:ext cx="10855961" cy="746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1600"/>
              </a:spcAft>
              <a:buClr>
                <a:srgbClr val="124734"/>
              </a:buClr>
              <a:buSzPts val="4400"/>
              <a:buNone/>
            </a:pPr>
            <a:r>
              <a:rPr lang="en-US" sz="4400">
                <a:latin typeface="Times New Roman"/>
                <a:ea typeface="Times New Roman"/>
                <a:cs typeface="Times New Roman"/>
                <a:sym typeface="Times New Roman"/>
              </a:rPr>
              <a:t>Conclusion and Future Work</a:t>
            </a:r>
            <a:endParaRPr>
              <a:latin typeface="Times New Roman"/>
              <a:ea typeface="Times New Roman"/>
              <a:cs typeface="Times New Roman"/>
              <a:sym typeface="Times New Roman"/>
            </a:endParaRPr>
          </a:p>
        </p:txBody>
      </p:sp>
      <p:sp>
        <p:nvSpPr>
          <p:cNvPr id="216" name="Google Shape;216;p9"/>
          <p:cNvSpPr txBox="1"/>
          <p:nvPr/>
        </p:nvSpPr>
        <p:spPr>
          <a:xfrm>
            <a:off x="728844" y="1836099"/>
            <a:ext cx="10734300" cy="4610400"/>
          </a:xfrm>
          <a:prstGeom prst="rect">
            <a:avLst/>
          </a:prstGeom>
          <a:noFill/>
          <a:ln>
            <a:noFill/>
          </a:ln>
        </p:spPr>
        <p:txBody>
          <a:bodyPr anchorCtr="0" anchor="t" bIns="45700" lIns="91425" spcFirstLastPara="1" rIns="91425" wrap="square" tIns="45700">
            <a:noAutofit/>
          </a:bodyPr>
          <a:lstStyle/>
          <a:p>
            <a:pPr indent="-177800" lvl="0" marL="342900" marR="0" rtl="0" algn="l">
              <a:lnSpc>
                <a:spcPct val="100000"/>
              </a:lnSpc>
              <a:spcBef>
                <a:spcPts val="0"/>
              </a:spcBef>
              <a:spcAft>
                <a:spcPts val="0"/>
              </a:spcAft>
              <a:buClr>
                <a:srgbClr val="FFC629"/>
              </a:buClr>
              <a:buSzPts val="2600"/>
              <a:buFont typeface="Arial"/>
              <a:buNone/>
            </a:pPr>
            <a:r>
              <a:rPr b="1" lang="en-US" sz="1800">
                <a:solidFill>
                  <a:schemeClr val="dk1"/>
                </a:solidFill>
                <a:latin typeface="Times New Roman"/>
                <a:ea typeface="Times New Roman"/>
                <a:cs typeface="Times New Roman"/>
                <a:sym typeface="Times New Roman"/>
              </a:rPr>
              <a:t>Overall, for this project we:</a:t>
            </a:r>
            <a:endParaRPr b="1" sz="1800">
              <a:solidFill>
                <a:schemeClr val="dk1"/>
              </a:solidFill>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Developed a modular Public Alert System (PAS) prototype for nuclear plant monitoring</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Implemented sensor modules for temperature, pressure, radiation, and seismic activity</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Applied boundary value analysis, equivalence class testing, decision tables, and state transition testing</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Verified correct alert classification and system state behaviour</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Met design objectives such as reducing human error and preventing false alarms</a:t>
            </a:r>
            <a:endParaRPr sz="1600">
              <a:solidFill>
                <a:srgbClr val="1F2328"/>
              </a:solidFill>
              <a:highlight>
                <a:srgbClr val="FFFFFF"/>
              </a:highlight>
              <a:latin typeface="Times New Roman"/>
              <a:ea typeface="Times New Roman"/>
              <a:cs typeface="Times New Roman"/>
              <a:sym typeface="Times New Roman"/>
            </a:endParaRPr>
          </a:p>
          <a:p>
            <a:pPr indent="0" lvl="0" marL="0" rtl="0" algn="l">
              <a:lnSpc>
                <a:spcPct val="115000"/>
              </a:lnSpc>
              <a:spcBef>
                <a:spcPts val="300"/>
              </a:spcBef>
              <a:spcAft>
                <a:spcPts val="0"/>
              </a:spcAft>
              <a:buNone/>
            </a:pPr>
            <a:r>
              <a:t/>
            </a:r>
            <a:endParaRPr sz="1200">
              <a:solidFill>
                <a:srgbClr val="1F2328"/>
              </a:solidFill>
              <a:highlight>
                <a:srgbClr val="FFFFFF"/>
              </a:highlight>
              <a:latin typeface="Times New Roman"/>
              <a:ea typeface="Times New Roman"/>
              <a:cs typeface="Times New Roman"/>
              <a:sym typeface="Times New Roman"/>
            </a:endParaRPr>
          </a:p>
          <a:p>
            <a:pPr indent="-177800" lvl="0" marL="342900" rtl="0" algn="l">
              <a:spcBef>
                <a:spcPts val="0"/>
              </a:spcBef>
              <a:spcAft>
                <a:spcPts val="0"/>
              </a:spcAft>
              <a:buNone/>
            </a:pPr>
            <a:r>
              <a:rPr b="1" lang="en-US" sz="1800">
                <a:solidFill>
                  <a:schemeClr val="dk1"/>
                </a:solidFill>
                <a:latin typeface="Times New Roman"/>
                <a:ea typeface="Times New Roman"/>
                <a:cs typeface="Times New Roman"/>
                <a:sym typeface="Times New Roman"/>
              </a:rPr>
              <a:t>Future Work(if continued)</a:t>
            </a:r>
            <a:r>
              <a:rPr b="1" lang="en-US"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Integrate real hardware sensors instead of manual input</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Add redundancy and fault-tolerance for safety-critical operation</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Expand monitoring to include more reactor parameters</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Improve real-time communication and alert delivery</a:t>
            </a:r>
            <a:endParaRPr sz="1600">
              <a:solidFill>
                <a:srgbClr val="1F2328"/>
              </a:solidFill>
              <a:highlight>
                <a:srgbClr val="FFFFFF"/>
              </a:highlight>
              <a:latin typeface="Times New Roman"/>
              <a:ea typeface="Times New Roman"/>
              <a:cs typeface="Times New Roman"/>
              <a:sym typeface="Times New Roman"/>
            </a:endParaRPr>
          </a:p>
          <a:p>
            <a:pPr indent="-330200" lvl="0" marL="914400" rtl="0" algn="l">
              <a:lnSpc>
                <a:spcPct val="115000"/>
              </a:lnSpc>
              <a:spcBef>
                <a:spcPts val="0"/>
              </a:spcBef>
              <a:spcAft>
                <a:spcPts val="0"/>
              </a:spcAft>
              <a:buClr>
                <a:srgbClr val="1F2328"/>
              </a:buClr>
              <a:buSzPts val="1600"/>
              <a:buFont typeface="Times New Roman"/>
              <a:buChar char="●"/>
            </a:pPr>
            <a:r>
              <a:rPr lang="en-US" sz="1600">
                <a:solidFill>
                  <a:srgbClr val="1F2328"/>
                </a:solidFill>
                <a:highlight>
                  <a:srgbClr val="FFFFFF"/>
                </a:highlight>
                <a:latin typeface="Times New Roman"/>
                <a:ea typeface="Times New Roman"/>
                <a:cs typeface="Times New Roman"/>
                <a:sym typeface="Times New Roman"/>
              </a:rPr>
              <a:t>Implement advanced thresholds based on industry standards</a:t>
            </a:r>
            <a:endParaRPr sz="1600">
              <a:solidFill>
                <a:srgbClr val="1F2328"/>
              </a:solidFill>
              <a:highlight>
                <a:srgbClr val="FFFFFF"/>
              </a:highlight>
              <a:latin typeface="Times New Roman"/>
              <a:ea typeface="Times New Roman"/>
              <a:cs typeface="Times New Roman"/>
              <a:sym typeface="Times New Roman"/>
            </a:endParaRPr>
          </a:p>
          <a:p>
            <a:pPr indent="0" lvl="0" marL="457200" rtl="0" algn="l">
              <a:spcBef>
                <a:spcPts val="0"/>
              </a:spcBef>
              <a:spcAft>
                <a:spcPts val="0"/>
              </a:spcAft>
              <a:buClr>
                <a:srgbClr val="FFC629"/>
              </a:buClr>
              <a:buSzPts val="2600"/>
              <a:buFont typeface="Arial"/>
              <a:buNone/>
            </a:pPr>
            <a:r>
              <a:t/>
            </a:r>
            <a:endParaRPr sz="2600">
              <a:solidFill>
                <a:schemeClr val="dk1"/>
              </a:solidFill>
              <a:latin typeface="Gill Sans"/>
              <a:ea typeface="Gill Sans"/>
              <a:cs typeface="Gill Sans"/>
              <a:sym typeface="Gill Sans"/>
            </a:endParaRPr>
          </a:p>
          <a:p>
            <a:pPr indent="-177800" lvl="0" marL="800100" marR="0" rtl="0" algn="l">
              <a:lnSpc>
                <a:spcPct val="100000"/>
              </a:lnSpc>
              <a:spcBef>
                <a:spcPts val="1000"/>
              </a:spcBef>
              <a:spcAft>
                <a:spcPts val="0"/>
              </a:spcAft>
              <a:buClr>
                <a:srgbClr val="FFC629"/>
              </a:buClr>
              <a:buSzPts val="2600"/>
              <a:buFont typeface="Arial"/>
              <a:buNone/>
            </a:pPr>
            <a:r>
              <a:t/>
            </a:r>
            <a:endParaRPr b="0" i="0" sz="2600" u="none" cap="none" strike="noStrike">
              <a:solidFill>
                <a:schemeClr val="dk1"/>
              </a:solidFill>
              <a:latin typeface="Gill Sans"/>
              <a:ea typeface="Gill Sans"/>
              <a:cs typeface="Gill Sans"/>
              <a:sym typeface="Gill Sans"/>
            </a:endParaRPr>
          </a:p>
          <a:p>
            <a:pPr indent="-165100" lvl="0" marL="342900" marR="0" rtl="0" algn="l">
              <a:lnSpc>
                <a:spcPct val="100000"/>
              </a:lnSpc>
              <a:spcBef>
                <a:spcPts val="1000"/>
              </a:spcBef>
              <a:spcAft>
                <a:spcPts val="0"/>
              </a:spcAft>
              <a:buClr>
                <a:srgbClr val="FFC629"/>
              </a:buClr>
              <a:buSzPts val="2800"/>
              <a:buFont typeface="Arial"/>
              <a:buNone/>
            </a:pPr>
            <a:r>
              <a:t/>
            </a:r>
            <a:endParaRPr b="0" i="0" sz="2800" u="none" cap="none" strike="noStrike">
              <a:solidFill>
                <a:schemeClr val="dk1"/>
              </a:solidFill>
              <a:latin typeface="Arial"/>
              <a:ea typeface="Arial"/>
              <a:cs typeface="Arial"/>
              <a:sym typeface="Arial"/>
            </a:endParaRPr>
          </a:p>
          <a:p>
            <a:pPr indent="-139700" lvl="0" marL="342900" marR="0" rtl="0" algn="l">
              <a:lnSpc>
                <a:spcPct val="100000"/>
              </a:lnSpc>
              <a:spcBef>
                <a:spcPts val="1000"/>
              </a:spcBef>
              <a:spcAft>
                <a:spcPts val="0"/>
              </a:spcAft>
              <a:buClr>
                <a:srgbClr val="FFC629"/>
              </a:buClr>
              <a:buSzPts val="3200"/>
              <a:buFont typeface="Arial"/>
              <a:buNone/>
            </a:pPr>
            <a:r>
              <a:t/>
            </a:r>
            <a:endParaRPr b="0" i="0" sz="3200" u="none" cap="none" strike="noStrike">
              <a:solidFill>
                <a:schemeClr val="dk1"/>
              </a:solidFill>
              <a:latin typeface="Gill Sans"/>
              <a:ea typeface="Gill Sans"/>
              <a:cs typeface="Gill Sans"/>
              <a:sym typeface="Gill Sans"/>
            </a:endParaRPr>
          </a:p>
          <a:p>
            <a:pPr indent="-213360" lvl="0" marL="342900" marR="0" rtl="0" algn="l">
              <a:lnSpc>
                <a:spcPct val="90000"/>
              </a:lnSpc>
              <a:spcBef>
                <a:spcPts val="720"/>
              </a:spcBef>
              <a:spcAft>
                <a:spcPts val="0"/>
              </a:spcAft>
              <a:buClr>
                <a:srgbClr val="FFC629"/>
              </a:buClr>
              <a:buSzPts val="2040"/>
              <a:buFont typeface="Arial"/>
              <a:buNone/>
            </a:pPr>
            <a:r>
              <a:t/>
            </a:r>
            <a:endParaRPr b="0" i="0" sz="2400" u="none" cap="none" strike="noStrike">
              <a:solidFill>
                <a:srgbClr val="FF0000"/>
              </a:solidFill>
              <a:latin typeface="Gill Sans"/>
              <a:ea typeface="Gill Sans"/>
              <a:cs typeface="Gill Sans"/>
              <a:sym typeface="Gill Sans"/>
            </a:endParaRPr>
          </a:p>
          <a:p>
            <a:pPr indent="-384810" lvl="0" marL="514350" marR="0" rtl="0" algn="l">
              <a:lnSpc>
                <a:spcPct val="90000"/>
              </a:lnSpc>
              <a:spcBef>
                <a:spcPts val="720"/>
              </a:spcBef>
              <a:spcAft>
                <a:spcPts val="0"/>
              </a:spcAft>
              <a:buClr>
                <a:srgbClr val="FFC629"/>
              </a:buClr>
              <a:buSzPts val="2040"/>
              <a:buFont typeface="Calibri"/>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d56fc1cb8d_0_0"/>
          <p:cNvSpPr txBox="1"/>
          <p:nvPr>
            <p:ph idx="1" type="subTitle"/>
          </p:nvPr>
        </p:nvSpPr>
        <p:spPr>
          <a:xfrm>
            <a:off x="838200" y="1839433"/>
            <a:ext cx="10490100" cy="4200600"/>
          </a:xfrm>
          <a:prstGeom prst="rect">
            <a:avLst/>
          </a:prstGeom>
        </p:spPr>
        <p:txBody>
          <a:bodyPr anchorCtr="0" anchor="t" bIns="45700" lIns="91425" spcFirstLastPara="1" rIns="91425" wrap="square" tIns="45700">
            <a:normAutofit/>
          </a:bodyPr>
          <a:lstStyle/>
          <a:p>
            <a:pPr indent="0" lvl="0" marL="0" rtl="0" algn="l">
              <a:spcBef>
                <a:spcPts val="1000"/>
              </a:spcBef>
              <a:spcAft>
                <a:spcPts val="1600"/>
              </a:spcAft>
              <a:buNone/>
            </a:pPr>
            <a:r>
              <a:t/>
            </a:r>
            <a:endParaRPr/>
          </a:p>
        </p:txBody>
      </p:sp>
      <p:sp>
        <p:nvSpPr>
          <p:cNvPr id="223" name="Google Shape;223;g3d56fc1cb8d_0_0"/>
          <p:cNvSpPr txBox="1"/>
          <p:nvPr>
            <p:ph idx="2" type="body"/>
          </p:nvPr>
        </p:nvSpPr>
        <p:spPr>
          <a:xfrm>
            <a:off x="838200" y="706810"/>
            <a:ext cx="10856100" cy="7464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1600"/>
              </a:spcAft>
              <a:buNone/>
            </a:pPr>
            <a:r>
              <a:rPr lang="en-US"/>
              <a:t>https://youtu.be/VAZ8wE3Zzek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2023-02-16T16:25:29Z</dcterms:created>
  <dc:creator>Haley Nicolson</dc:creator>
</cp:coreProperties>
</file>